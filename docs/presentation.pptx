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9d7141b5-e820-183a-5ba5-d0fc7fa32a72}">
          <p14:sldIdLst>
            <p14:sldId id="256"/>
          </p14:sldIdLst>
        </p14:section>
        <p14:section name="Problem &amp; Approach" id="{ff008d39-2e36-56df-5b82-6c02277fe6fa}">
          <p14:sldIdLst>
            <p14:sldId id="257"/>
          </p14:sldIdLst>
        </p14:section>
        <p14:section name="System Design" id="{1540766b-4588-15eb-ffc5-1936936ebd59}">
          <p14:sldIdLst>
            <p14:sldId id="258"/>
          </p14:sldIdLst>
        </p14:section>
        <p14:section name="Implementation" id="{fa0f42b6-79d5-9632-c36e-f939016c3bab}">
          <p14:sldIdLst>
            <p14:sldId id="259"/>
          </p14:sldIdLst>
        </p14:section>
        <p14:section name="Results" id="{5f81502d-1688-d304-2e95-a5846d8f648b}">
          <p14:sldIdLst>
            <p14:sldId id="260"/>
          </p14:sldIdLst>
        </p14:section>
        <p14:section name="Domain Impact" id="{6ff1f395-40f7-069d-db7d-a6aa63f6866a}">
          <p14:sldIdLst>
            <p14:sldId id="261"/>
          </p14:sldIdLst>
        </p14:section>
        <p14:section name="Next Steps" id="{c0610642-6d2c-74ef-ac09-35dda9bb9cc2}">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A2E"/>
                </a:solidFill>
                <a:latin typeface="+mn-lt"/>
              </a:defRPr>
            </a:pPr>
            <a:r>
              <a:rPr sz="1400" b="0" i="0" u="none" strike="noStrike">
                <a:solidFill>
                  <a:srgbClr val="111A2E"/>
                </a:solidFill>
                <a:latin typeface="+mn-lt"/>
              </a:rPr>
              <a:t>Held-out accuracy (60 items never used for tuning)</a:t>
            </a:r>
          </a:p>
        </c:rich>
      </c:tx>
      <c:layout/>
      <c:overlay val="0"/>
    </c:title>
    <c:autoTitleDeleted val="0"/>
    <c:plotArea>
      <c:layout/>
      <c:barChart>
        <c:barDir val="col"/>
        <c:grouping val="clustered"/>
        <c:varyColors val="0"/>
        <c:ser>
          <c:idx val="0"/>
          <c:order val="0"/>
          <c:tx>
            <c:strRef>
              <c:f>Sheet1!$B$1</c:f>
              <c:strCache>
                <c:ptCount val="1"/>
                <c:pt idx="0">
                  <c:v>Naive baseline</c:v>
                </c:pt>
              </c:strCache>
            </c:strRef>
          </c:tx>
          <c:spPr>
            <a:solidFill>
              <a:srgbClr val="8FA3BF"/>
            </a:solidFill>
            <a:effectLst/>
          </c:spPr>
          <c:invertIfNegative val="0"/>
          <c:dLbls>
            <c:numFmt formatCode="0.0&quot;%&quot;" sourceLinked="0"/>
            <c:txPr>
              <a:bodyPr/>
              <a:lstStyle/>
              <a:p>
                <a:pPr>
                  <a:defRPr b="0" i="0" strike="noStrike" sz="1200" u="none">
                    <a:solidFill>
                      <a:srgbClr val="111A2E"/>
                    </a:solidFill>
                    <a:latin typeface="+mn-lt"/>
                  </a:defRPr>
                </a:pPr>
              </a:p>
            </c:txPr>
            <c:showLegendKey val="0"/>
            <c:showVal val="1"/>
            <c:showCatName val="0"/>
            <c:showSerName val="0"/>
            <c:showPercent val="0"/>
            <c:showBubbleSize val="0"/>
            <c:showLeaderLines val="0"/>
          </c:dLbls>
          <c:cat>
            <c:multiLvlStrRef>
              <c:f>Sheet1!$A$2:$A$3</c:f>
              <c:multiLvlStrCache>
                <c:ptCount val="2"/>
                <c:lvl>
                  <c:pt idx="0">
                    <c:v>Sentiment (3-class)</c:v>
                  </c:pt>
                  <c:pt idx="1">
                    <c:v>Event type (8-class)</c:v>
                  </c:pt>
                </c:lvl>
              </c:multiLvlStrCache>
            </c:multiLvlStrRef>
          </c:cat>
          <c:val>
            <c:numRef>
              <c:f>Sheet1!$B$2:$B$3</c:f>
              <c:numCache>
                <c:formatCode>General</c:formatCode>
                <c:ptCount val="2"/>
                <c:pt idx="0">
                  <c:v>50</c:v>
                </c:pt>
                <c:pt idx="1">
                  <c:v>16.7</c:v>
                </c:pt>
              </c:numCache>
            </c:numRef>
          </c:val>
        </c:ser>
        <c:ser>
          <c:idx val="1"/>
          <c:order val="1"/>
          <c:tx>
            <c:strRef>
              <c:f>Sheet1!$C$1</c:f>
              <c:strCache>
                <c:ptCount val="1"/>
                <c:pt idx="0">
                  <c:v>SENTINEL (offline)</c:v>
                </c:pt>
              </c:strCache>
            </c:strRef>
          </c:tx>
          <c:spPr>
            <a:solidFill>
              <a:srgbClr val="2A78D6"/>
            </a:solidFill>
            <a:effectLst/>
          </c:spPr>
          <c:invertIfNegative val="0"/>
          <c:dLbls>
            <c:numFmt formatCode="0.0&quot;%&quot;" sourceLinked="0"/>
            <c:txPr>
              <a:bodyPr/>
              <a:lstStyle/>
              <a:p>
                <a:pPr>
                  <a:defRPr b="0" i="0" strike="noStrike" sz="1200" u="none">
                    <a:solidFill>
                      <a:srgbClr val="111A2E"/>
                    </a:solidFill>
                    <a:latin typeface="+mn-lt"/>
                  </a:defRPr>
                </a:pPr>
              </a:p>
            </c:txPr>
            <c:showLegendKey val="0"/>
            <c:showVal val="1"/>
            <c:showCatName val="0"/>
            <c:showSerName val="0"/>
            <c:showPercent val="0"/>
            <c:showBubbleSize val="0"/>
            <c:showLeaderLines val="0"/>
          </c:dLbls>
          <c:cat>
            <c:multiLvlStrRef>
              <c:f>Sheet1!$A$2:$A$3</c:f>
              <c:multiLvlStrCache>
                <c:ptCount val="2"/>
                <c:lvl>
                  <c:pt idx="0">
                    <c:v>Sentiment (3-class)</c:v>
                  </c:pt>
                  <c:pt idx="1">
                    <c:v>Event type (8-class)</c:v>
                  </c:pt>
                </c:lvl>
              </c:multiLvlStrCache>
            </c:multiLvlStrRef>
          </c:cat>
          <c:val>
            <c:numRef>
              <c:f>Sheet1!$C$2:$C$3</c:f>
              <c:numCache>
                <c:formatCode>General</c:formatCode>
                <c:ptCount val="2"/>
                <c:pt idx="0">
                  <c:v>58.3</c:v>
                </c:pt>
                <c:pt idx="1">
                  <c:v>60</c:v>
                </c:pt>
              </c:numCache>
            </c:numRef>
          </c:val>
        </c:ser>
        <c:dLbls>
          <c:numFmt formatCode="0.0&quot;%&quot;" sourceLinked="0"/>
          <c:txPr>
            <a:bodyPr/>
            <a:lstStyle/>
            <a:p>
              <a:pPr>
                <a:defRPr b="0" i="0" strike="noStrike" sz="1200" u="none">
                  <a:solidFill>
                    <a:srgbClr val="111A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11A2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0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A2E"/>
                </a:solidFill>
                <a:latin typeface="+mn-lt"/>
              </a:defRPr>
            </a:pPr>
            <a:r>
              <a:rPr sz="1400" b="0" i="0" u="none" strike="noStrike">
                <a:solidFill>
                  <a:srgbClr val="111A2E"/>
                </a:solidFill>
                <a:latin typeface="+mn-lt"/>
              </a:rPr>
              <a:t>CET1 ratio after each auto-triggered stress test (13.5% before; 7.0% threshold)</a:t>
            </a:r>
          </a:p>
        </c:rich>
      </c:tx>
      <c:layout/>
      <c:overlay val="0"/>
    </c:title>
    <c:autoTitleDeleted val="0"/>
    <c:plotArea>
      <c:layout/>
      <c:barChart>
        <c:barDir val="col"/>
        <c:grouping val="clustered"/>
        <c:varyColors val="0"/>
        <c:ser>
          <c:idx val="0"/>
          <c:order val="0"/>
          <c:tx>
            <c:strRef>
              <c:f>Sheet1!$B$1</c:f>
              <c:strCache>
                <c:ptCount val="1"/>
                <c:pt idx="0">
                  <c:v>CET1 ratio after stress</c:v>
                </c:pt>
              </c:strCache>
            </c:strRef>
          </c:tx>
          <c:spPr>
            <a:solidFill>
              <a:srgbClr val="D03B3B"/>
            </a:solidFill>
            <a:effectLst/>
          </c:spPr>
          <c:invertIfNegative val="0"/>
          <c:dLbls>
            <c:numFmt formatCode="0.0&quot;%&quot;" sourceLinked="0"/>
            <c:txPr>
              <a:bodyPr/>
              <a:lstStyle/>
              <a:p>
                <a:pPr>
                  <a:defRPr b="0" i="0" strike="noStrike" sz="1200" u="none">
                    <a:solidFill>
                      <a:srgbClr val="111A2E"/>
                    </a:solidFill>
                    <a:latin typeface="+mn-lt"/>
                  </a:defRPr>
                </a:pPr>
              </a:p>
            </c:txPr>
            <c:showLegendKey val="0"/>
            <c:showVal val="1"/>
            <c:showCatName val="0"/>
            <c:showSerName val="0"/>
            <c:showPercent val="0"/>
            <c:showBubbleSize val="0"/>
            <c:showLeaderLines val="0"/>
          </c:dLbls>
          <c:dPt>
            <c:idx val="0"/>
            <c:invertIfNegative val="0"/>
            <c:bubble3D val="0"/>
            <c:spPr>
              <a:solidFill>
                <a:srgbClr val="D03B3B"/>
              </a:solidFill>
              <a:effectLst/>
            </c:spPr>
          </c:dPt>
          <c:dPt>
            <c:idx val="1"/>
            <c:invertIfNegative val="0"/>
            <c:bubble3D val="0"/>
            <c:spPr>
              <a:solidFill>
                <a:srgbClr val="D03B3B"/>
              </a:solidFill>
              <a:effectLst/>
            </c:spPr>
          </c:dPt>
          <c:dPt>
            <c:idx val="2"/>
            <c:invertIfNegative val="0"/>
            <c:bubble3D val="0"/>
            <c:spPr>
              <a:solidFill>
                <a:srgbClr val="D03B3B"/>
              </a:solidFill>
              <a:effectLst/>
            </c:spPr>
          </c:dPt>
          <c:dPt>
            <c:idx val="3"/>
            <c:invertIfNegative val="0"/>
            <c:bubble3D val="0"/>
            <c:spPr>
              <a:solidFill>
                <a:srgbClr val="8FA3BF"/>
              </a:solidFill>
              <a:effectLst/>
            </c:spPr>
          </c:dPt>
          <c:dPt>
            <c:idx val="4"/>
            <c:invertIfNegative val="0"/>
            <c:bubble3D val="0"/>
            <c:spPr>
              <a:solidFill>
                <a:srgbClr val="D03B3B"/>
              </a:solidFill>
              <a:effectLst/>
            </c:spPr>
          </c:dPt>
          <c:cat>
            <c:multiLvlStrRef>
              <c:f>Sheet1!$A$2:$A$6</c:f>
              <c:multiLvlStrCache>
                <c:ptCount val="5"/>
                <c:lvl>
                  <c:pt idx="0">
                    <c:v>Hormuz attacks
(Geo, 9.3)</c:v>
                  </c:pt>
                  <c:pt idx="1">
                    <c:v>Harbor Point default
(Credit, 10.0)</c:v>
                  </c:pt>
                  <c:pt idx="2">
                    <c:v>Hot CPI
(Macro, 8.0)</c:v>
                  </c:pt>
                  <c:pt idx="3">
                    <c:v>EU fine
(Reg, 7.9)</c:v>
                  </c:pt>
                  <c:pt idx="4">
                    <c:v>Fed +50bp
(Macro, 8.3)</c:v>
                  </c:pt>
                </c:lvl>
              </c:multiLvlStrCache>
            </c:multiLvlStrRef>
          </c:cat>
          <c:val>
            <c:numRef>
              <c:f>Sheet1!$B$2:$B$6</c:f>
              <c:numCache>
                <c:formatCode>General</c:formatCode>
                <c:ptCount val="5"/>
                <c:pt idx="0">
                  <c:v>7.65</c:v>
                </c:pt>
                <c:pt idx="1">
                  <c:v>2.47</c:v>
                </c:pt>
                <c:pt idx="2">
                  <c:v>5.16</c:v>
                </c:pt>
                <c:pt idx="3">
                  <c:v>12.26</c:v>
                </c:pt>
                <c:pt idx="4">
                  <c:v>4.93</c:v>
                </c:pt>
              </c:numCache>
            </c:numRef>
          </c:val>
        </c:ser>
        <c:dLbls>
          <c:numFmt formatCode="0.0&quot;%&quot;" sourceLinked="0"/>
          <c:txPr>
            <a:bodyPr/>
            <a:lstStyle/>
            <a:p>
              <a:pPr>
                <a:defRPr b="0" i="0" strike="noStrike" sz="1200" u="none">
                  <a:solidFill>
                    <a:srgbClr val="111A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A2E"/>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1E0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turns unstructured news and social media into structured, explainable risk signals: sentiment, event type and impact. Both downstream modules are built: a sentiment-driven index rebalancer and an event-driven stress tester for a wholesale banking book. The card on the right is a real signal produced by the engine on the demo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my own words: the signal is in text, it arrives continuously, and the people who need it want auditable numbers. The approach is a four-stage pipeline: ingest, understand, score, act. Every number the engine produces can be traced back to the words that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left to right. Connectors produce Documents; the engine links entities, scores sentiment per entity, classifies the event and computes the impact score. Each signal is stored, published on the bus and served by the API. Module A subscribes to sentiment, Module B to event type plus impact. The dashboard reads the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choices: explainability over raw accuracy for the offline path, because a bank has to be able to challenge the model; FinBERT plugs in when the machine has it. Configuration lives in YAML: the taxonomy, the shocks, the universe. The stress engine uses standard first-order risk measures so a risk manager recognises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held-out set written after tuning, the offline engine beats general-purpose VADER on sentiment and a majority-class baseline on events by a wide margin. Dev-set numbers are much higher; I report the held-out ones because that's the honest generalisation estimate. The pipeline processes about 90 documents per second on a small CPU. Five stress tests fired automatically, one per real event cluster. Module A beat its naive variant; its returns are on synthetic prices and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business value is. The Harbor Point default was named in the news, so the engine marked that counterparty jump-to-default; with PDs doubling across financials and real estate, CET1 drops to 2.5%. That is the signal a risk committee needs on the day of the event, not at the next quarterly stress cycle. Three of the five events breach the threshold, pointing to concentration and duration as the book's real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the assumptions: the demo data is synthetic by design, and the offline models are explainable but generalise modestly. The architecture is built so that FinBERT, real prices and live feeds plug in through configuration. Code, data and setup instructions are in the public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8580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429000"/>
            <a:ext cx="630936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SENTINEL · S&amp;P Global &amp; Crisil Campus Hackathon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858000" cy="1554480"/>
          </a:xfrm>
          <a:prstGeom prst="rect">
            <a:avLst/>
          </a:prstGeom>
          <a:noFill/>
          <a:ln/>
        </p:spPr>
        <p:txBody>
          <a:bodyPr wrap="square" lIns="0" tIns="0" rIns="0" bIns="0" rtlCol="0" anchor="b"/>
          <a:lstStyle/>
          <a:p>
            <a:pPr algn="l" indent="0" marL="0">
              <a:buNone/>
            </a:pPr>
            <a:r>
              <a:rPr lang="en-US" sz="4000" b="1" dirty="0">
                <a:solidFill>
                  <a:schemeClr val="accent1"/>
                </a:solidFill>
                <a:latin typeface="Cambria" pitchFamily="34" charset="0"/>
                <a:ea typeface="Cambria" pitchFamily="34" charset="-122"/>
                <a:cs typeface="Cambria" pitchFamily="34" charset="-120"/>
              </a:rPr>
              <a:t>SENTINEL</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AI/NLP Risk Engine</a:t>
            </a:r>
            <a:endParaRPr lang="en-US" sz="4000" dirty="0"/>
          </a:p>
        </p:txBody>
      </p:sp>
      <p:sp>
        <p:nvSpPr>
          <p:cNvPr id="3" name="Text 0"/>
          <p:cNvSpPr/>
          <p:nvPr>
            <p:ph idx="101" type="body" hasCustomPrompt="1"/>
          </p:nvPr>
        </p:nvSpPr>
        <p:spPr>
          <a:xfrm>
            <a:off x="640080" y="3429000"/>
            <a:ext cx="6309360" cy="1188720"/>
          </a:xfrm>
          <a:prstGeom prst="rect">
            <a:avLst/>
          </a:prstGeom>
          <a:noFill/>
          <a:ln/>
        </p:spPr>
        <p:txBody>
          <a:bodyPr wrap="square" lIns="0" tIns="0" rIns="0" bIns="0" rtlCol="0" anchor="t"/>
          <a:lstStyle/>
          <a:p>
            <a:pPr algn="l" indent="0" marL="0">
              <a:buNone/>
            </a:pPr>
            <a:r>
              <a:rPr lang="en-US" sz="1800" dirty="0">
                <a:solidFill>
                  <a:schemeClr val="bg2"/>
                </a:solidFill>
              </a:rPr>
              <a:t>From headlines to risk signals: sentiment-driven index rebalancing and event-driven stress testing</a:t>
            </a:r>
            <a:endParaRPr lang="en-US" sz="1800" dirty="0"/>
          </a:p>
          <a:p>
            <a:pPr algn="l" indent="0" marL="0">
              <a:buNone/>
            </a:pPr>
            <a:r>
              <a:rPr lang="en-US" sz="1000" dirty="0">
                <a:solidFill>
                  <a:schemeClr val="bg2"/>
                </a:solidFill>
              </a:rPr>
              <a:t> </a:t>
            </a:r>
            <a:endParaRPr lang="en-US" sz="1800" dirty="0"/>
          </a:p>
          <a:p>
            <a:pPr algn="l" indent="0" marL="0">
              <a:buNone/>
            </a:pPr>
            <a:r>
              <a:rPr lang="en-US" sz="1600" b="1" dirty="0">
                <a:solidFill>
                  <a:schemeClr val="accent1"/>
                </a:solidFill>
              </a:rPr>
              <a:t>Sreedaya G S  ·  Kerala Agricultural University</a:t>
            </a:r>
            <a:endParaRPr lang="en-US" sz="1800" dirty="0"/>
          </a:p>
        </p:txBody>
      </p:sp>
      <p:sp>
        <p:nvSpPr>
          <p:cNvPr id="4" name="Text 2"/>
          <p:cNvSpPr txBox="1"/>
          <p:nvPr/>
        </p:nvSpPr>
        <p:spPr>
          <a:xfrm>
            <a:off x="640080" y="6035040"/>
            <a:ext cx="6400800" cy="320040"/>
          </a:xfrm>
          <a:prstGeom prst="rect">
            <a:avLst/>
          </a:prstGeom>
          <a:noFill/>
          <a:ln/>
        </p:spPr>
        <p:txBody>
          <a:bodyPr wrap="square" lIns="0" tIns="0" rIns="0" bIns="0" rtlCol="0" anchor="ctr"/>
          <a:lstStyle/>
          <a:p>
            <a:pPr indent="0" marL="0">
              <a:buNone/>
            </a:pPr>
            <a:r>
              <a:rPr lang="en-US" sz="1200" dirty="0">
                <a:solidFill>
                  <a:schemeClr val="accent6"/>
                </a:solidFill>
              </a:rPr>
              <a:t>S&amp;P Global &amp; Crisil Campus Hackathon · Phase III Case Study</a:t>
            </a:r>
            <a:endParaRPr lang="en-US" sz="1200" dirty="0"/>
          </a:p>
        </p:txBody>
      </p:sp>
      <p:sp>
        <p:nvSpPr>
          <p:cNvPr id="5" name="card"/>
          <p:cNvSpPr/>
          <p:nvPr/>
        </p:nvSpPr>
        <p:spPr>
          <a:xfrm>
            <a:off x="7726680" y="1325880"/>
            <a:ext cx="3886200" cy="4206240"/>
          </a:xfrm>
          <a:prstGeom prst="roundRect">
            <a:avLst>
              <a:gd name="adj" fmla="val 1882"/>
            </a:avLst>
          </a:prstGeom>
          <a:solidFill>
            <a:schemeClr val="tx2"/>
          </a:solidFill>
          <a:ln/>
        </p:spPr>
      </p:sp>
      <p:sp>
        <p:nvSpPr>
          <p:cNvPr id="6" name="Text 4"/>
          <p:cNvSpPr txBox="1"/>
          <p:nvPr/>
        </p:nvSpPr>
        <p:spPr>
          <a:xfrm>
            <a:off x="8001000" y="1508760"/>
            <a:ext cx="3291840" cy="365760"/>
          </a:xfrm>
          <a:prstGeom prst="rect">
            <a:avLst/>
          </a:prstGeom>
          <a:noFill/>
          <a:ln/>
        </p:spPr>
        <p:txBody>
          <a:bodyPr wrap="square" lIns="0" tIns="0" rIns="0" bIns="0" rtlCol="0" anchor="ctr"/>
          <a:lstStyle/>
          <a:p>
            <a:pPr indent="0" marL="0">
              <a:buNone/>
            </a:pPr>
            <a:r>
              <a:rPr lang="en-US" sz="1400" b="1" dirty="0">
                <a:solidFill>
                  <a:schemeClr val="accent1"/>
                </a:solidFill>
              </a:rPr>
              <a:t>RiskSignal</a:t>
            </a:r>
            <a:endParaRPr lang="en-US" sz="1400" dirty="0"/>
          </a:p>
        </p:txBody>
      </p:sp>
      <p:sp>
        <p:nvSpPr>
          <p:cNvPr id="7" name="Text 5"/>
          <p:cNvSpPr txBox="1"/>
          <p:nvPr/>
        </p:nvSpPr>
        <p:spPr>
          <a:xfrm>
            <a:off x="8001000" y="1920240"/>
            <a:ext cx="3383280" cy="868680"/>
          </a:xfrm>
          <a:prstGeom prst="rect">
            <a:avLst/>
          </a:prstGeom>
          <a:noFill/>
          <a:ln/>
        </p:spPr>
        <p:txBody>
          <a:bodyPr wrap="square" lIns="0" tIns="0" rIns="0" bIns="0" rtlCol="0" anchor="t"/>
          <a:lstStyle/>
          <a:p>
            <a:pPr indent="0" marL="0">
              <a:buNone/>
            </a:pPr>
            <a:r>
              <a:rPr lang="en-US" sz="1200" i="1" dirty="0">
                <a:solidFill>
                  <a:schemeClr val="bg2"/>
                </a:solidFill>
              </a:rPr>
              <a:t>“Moody's downgrades several mid-size banks after Harbor Point default; bank stocks plunge”</a:t>
            </a:r>
            <a:endParaRPr lang="en-US" sz="1200" dirty="0"/>
          </a:p>
        </p:txBody>
      </p:sp>
      <p:sp>
        <p:nvSpPr>
          <p:cNvPr id="8" name="Text 6"/>
          <p:cNvSpPr txBox="1"/>
          <p:nvPr/>
        </p:nvSpPr>
        <p:spPr>
          <a:xfrm>
            <a:off x="8001000" y="288036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entity</a:t>
            </a:r>
            <a:endParaRPr lang="en-US" sz="1300" dirty="0"/>
          </a:p>
        </p:txBody>
      </p:sp>
      <p:sp>
        <p:nvSpPr>
          <p:cNvPr id="9" name="Text 7"/>
          <p:cNvSpPr txBox="1"/>
          <p:nvPr/>
        </p:nvSpPr>
        <p:spPr>
          <a:xfrm>
            <a:off x="9189720" y="2880360"/>
            <a:ext cx="2286000" cy="347472"/>
          </a:xfrm>
          <a:prstGeom prst="rect">
            <a:avLst/>
          </a:prstGeom>
          <a:noFill/>
          <a:ln/>
        </p:spPr>
        <p:txBody>
          <a:bodyPr wrap="square" lIns="0" tIns="0" rIns="0" bIns="0" rtlCol="0" anchor="ctr"/>
          <a:lstStyle/>
          <a:p>
            <a:pPr indent="0" marL="0">
              <a:buNone/>
            </a:pPr>
            <a:r>
              <a:rPr lang="en-US" sz="1300" b="1" dirty="0">
                <a:solidFill>
                  <a:schemeClr val="bg1"/>
                </a:solidFill>
              </a:rPr>
              <a:t>JPM</a:t>
            </a:r>
            <a:endParaRPr lang="en-US" sz="1300" dirty="0"/>
          </a:p>
        </p:txBody>
      </p:sp>
      <p:sp>
        <p:nvSpPr>
          <p:cNvPr id="10" name="Text 8"/>
          <p:cNvSpPr txBox="1"/>
          <p:nvPr/>
        </p:nvSpPr>
        <p:spPr>
          <a:xfrm>
            <a:off x="8001000" y="329184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sentiment</a:t>
            </a:r>
            <a:endParaRPr lang="en-US" sz="1300" dirty="0"/>
          </a:p>
        </p:txBody>
      </p:sp>
      <p:sp>
        <p:nvSpPr>
          <p:cNvPr id="11" name="Text 9"/>
          <p:cNvSpPr txBox="1"/>
          <p:nvPr/>
        </p:nvSpPr>
        <p:spPr>
          <a:xfrm>
            <a:off x="9189720" y="3291840"/>
            <a:ext cx="2286000" cy="347472"/>
          </a:xfrm>
          <a:prstGeom prst="rect">
            <a:avLst/>
          </a:prstGeom>
          <a:noFill/>
          <a:ln/>
        </p:spPr>
        <p:txBody>
          <a:bodyPr wrap="square" lIns="0" tIns="0" rIns="0" bIns="0" rtlCol="0" anchor="ctr"/>
          <a:lstStyle/>
          <a:p>
            <a:pPr indent="0" marL="0">
              <a:buNone/>
            </a:pPr>
            <a:r>
              <a:rPr lang="en-US" sz="1300" b="1" dirty="0">
                <a:solidFill>
                  <a:schemeClr val="bg1"/>
                </a:solidFill>
              </a:rPr>
              <a:t>−0.57</a:t>
            </a:r>
            <a:endParaRPr lang="en-US" sz="1300" dirty="0"/>
          </a:p>
        </p:txBody>
      </p:sp>
      <p:sp>
        <p:nvSpPr>
          <p:cNvPr id="12" name="Text 10"/>
          <p:cNvSpPr txBox="1"/>
          <p:nvPr/>
        </p:nvSpPr>
        <p:spPr>
          <a:xfrm>
            <a:off x="8001000" y="370332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event</a:t>
            </a:r>
            <a:endParaRPr lang="en-US" sz="1300" dirty="0"/>
          </a:p>
        </p:txBody>
      </p:sp>
      <p:sp>
        <p:nvSpPr>
          <p:cNvPr id="13" name="Text 11"/>
          <p:cNvSpPr txBox="1"/>
          <p:nvPr/>
        </p:nvSpPr>
        <p:spPr>
          <a:xfrm>
            <a:off x="9189720" y="3703320"/>
            <a:ext cx="2286000" cy="347472"/>
          </a:xfrm>
          <a:prstGeom prst="rect">
            <a:avLst/>
          </a:prstGeom>
          <a:noFill/>
          <a:ln/>
        </p:spPr>
        <p:txBody>
          <a:bodyPr wrap="square" lIns="0" tIns="0" rIns="0" bIns="0" rtlCol="0" anchor="ctr"/>
          <a:lstStyle/>
          <a:p>
            <a:pPr indent="0" marL="0">
              <a:buNone/>
            </a:pPr>
            <a:r>
              <a:rPr lang="en-US" sz="1300" b="1" dirty="0">
                <a:solidFill>
                  <a:schemeClr val="bg1"/>
                </a:solidFill>
              </a:rPr>
              <a:t>Credit Event (0.99)</a:t>
            </a:r>
            <a:endParaRPr lang="en-US" sz="1300" dirty="0"/>
          </a:p>
        </p:txBody>
      </p:sp>
      <p:sp>
        <p:nvSpPr>
          <p:cNvPr id="14" name="Text 12"/>
          <p:cNvSpPr txBox="1"/>
          <p:nvPr/>
        </p:nvSpPr>
        <p:spPr>
          <a:xfrm>
            <a:off x="8001000" y="411480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impact</a:t>
            </a:r>
            <a:endParaRPr lang="en-US" sz="1300" dirty="0"/>
          </a:p>
        </p:txBody>
      </p:sp>
      <p:sp>
        <p:nvSpPr>
          <p:cNvPr id="15" name="Text 13"/>
          <p:cNvSpPr txBox="1"/>
          <p:nvPr/>
        </p:nvSpPr>
        <p:spPr>
          <a:xfrm>
            <a:off x="9189720" y="4114800"/>
            <a:ext cx="2286000" cy="347472"/>
          </a:xfrm>
          <a:prstGeom prst="rect">
            <a:avLst/>
          </a:prstGeom>
          <a:noFill/>
          <a:ln/>
        </p:spPr>
        <p:txBody>
          <a:bodyPr wrap="square" lIns="0" tIns="0" rIns="0" bIns="0" rtlCol="0" anchor="ctr"/>
          <a:lstStyle/>
          <a:p>
            <a:pPr indent="0" marL="0">
              <a:buNone/>
            </a:pPr>
            <a:r>
              <a:rPr lang="en-US" sz="1300" b="1" dirty="0">
                <a:solidFill>
                  <a:schemeClr val="bg1"/>
                </a:solidFill>
              </a:rPr>
              <a:t>10.0 / 10</a:t>
            </a:r>
            <a:endParaRPr lang="en-US" sz="1300" dirty="0"/>
          </a:p>
        </p:txBody>
      </p:sp>
      <p:sp>
        <p:nvSpPr>
          <p:cNvPr id="16" name="Text 14"/>
          <p:cNvSpPr txBox="1"/>
          <p:nvPr/>
        </p:nvSpPr>
        <p:spPr>
          <a:xfrm>
            <a:off x="8001000" y="452628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regions</a:t>
            </a:r>
            <a:endParaRPr lang="en-US" sz="1300" dirty="0"/>
          </a:p>
        </p:txBody>
      </p:sp>
      <p:sp>
        <p:nvSpPr>
          <p:cNvPr id="17" name="Text 15"/>
          <p:cNvSpPr txBox="1"/>
          <p:nvPr/>
        </p:nvSpPr>
        <p:spPr>
          <a:xfrm>
            <a:off x="9189720" y="4526280"/>
            <a:ext cx="2286000" cy="347472"/>
          </a:xfrm>
          <a:prstGeom prst="rect">
            <a:avLst/>
          </a:prstGeom>
          <a:noFill/>
          <a:ln/>
        </p:spPr>
        <p:txBody>
          <a:bodyPr wrap="square" lIns="0" tIns="0" rIns="0" bIns="0" rtlCol="0" anchor="ctr"/>
          <a:lstStyle/>
          <a:p>
            <a:pPr indent="0" marL="0">
              <a:buNone/>
            </a:pPr>
            <a:r>
              <a:rPr lang="en-US" sz="1300" b="1" dirty="0">
                <a:solidFill>
                  <a:schemeClr val="bg1"/>
                </a:solidFill>
              </a:rPr>
              <a:t>North America</a:t>
            </a:r>
            <a:endParaRPr lang="en-US" sz="1300" dirty="0"/>
          </a:p>
        </p:txBody>
      </p:sp>
      <p:sp>
        <p:nvSpPr>
          <p:cNvPr id="18" name="Text 16"/>
          <p:cNvSpPr txBox="1"/>
          <p:nvPr/>
        </p:nvSpPr>
        <p:spPr>
          <a:xfrm>
            <a:off x="8001000" y="4937760"/>
            <a:ext cx="1188720" cy="347472"/>
          </a:xfrm>
          <a:prstGeom prst="rect">
            <a:avLst/>
          </a:prstGeom>
          <a:noFill/>
          <a:ln/>
        </p:spPr>
        <p:txBody>
          <a:bodyPr wrap="square" lIns="0" tIns="0" rIns="0" bIns="0" rtlCol="0" anchor="ctr"/>
          <a:lstStyle/>
          <a:p>
            <a:pPr indent="0" marL="0">
              <a:buNone/>
            </a:pPr>
            <a:r>
              <a:rPr lang="en-US" sz="1300" dirty="0">
                <a:solidFill>
                  <a:schemeClr val="accent6"/>
                </a:solidFill>
              </a:rPr>
              <a:t>action</a:t>
            </a:r>
            <a:endParaRPr lang="en-US" sz="1300" dirty="0"/>
          </a:p>
        </p:txBody>
      </p:sp>
      <p:sp>
        <p:nvSpPr>
          <p:cNvPr id="19" name="Text 17"/>
          <p:cNvSpPr txBox="1"/>
          <p:nvPr/>
        </p:nvSpPr>
        <p:spPr>
          <a:xfrm>
            <a:off x="9189720" y="4937760"/>
            <a:ext cx="2286000" cy="347472"/>
          </a:xfrm>
          <a:prstGeom prst="rect">
            <a:avLst/>
          </a:prstGeom>
          <a:noFill/>
          <a:ln/>
        </p:spPr>
        <p:txBody>
          <a:bodyPr wrap="square" lIns="0" tIns="0" rIns="0" bIns="0" rtlCol="0" anchor="ctr"/>
          <a:lstStyle/>
          <a:p>
            <a:pPr indent="0" marL="0">
              <a:buNone/>
            </a:pPr>
            <a:r>
              <a:rPr lang="en-US" sz="1300" b="1" dirty="0">
                <a:solidFill>
                  <a:schemeClr val="accent1"/>
                </a:solidFill>
              </a:rPr>
              <a:t>Stress test → CET1 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Markets move on words before numbers, and risk teams need those words as data</a:t>
            </a:r>
            <a:endParaRPr lang="en-US" sz="3400" dirty="0"/>
          </a:p>
        </p:txBody>
      </p:sp>
      <p:sp>
        <p:nvSpPr>
          <p:cNvPr id="3" name="Text 1"/>
          <p:cNvSpPr txBox="1"/>
          <p:nvPr/>
        </p:nvSpPr>
        <p:spPr>
          <a:xfrm>
            <a:off x="548640" y="1371600"/>
            <a:ext cx="4754880" cy="411480"/>
          </a:xfrm>
          <a:prstGeom prst="rect">
            <a:avLst/>
          </a:prstGeom>
          <a:noFill/>
          <a:ln/>
        </p:spPr>
        <p:txBody>
          <a:bodyPr wrap="square" lIns="0" tIns="0" rIns="0" bIns="0" rtlCol="0" anchor="ctr"/>
          <a:lstStyle/>
          <a:p>
            <a:pPr indent="0" marL="0">
              <a:buNone/>
            </a:pPr>
            <a:r>
              <a:rPr lang="en-US" sz="2000" b="1" dirty="0">
                <a:solidFill>
                  <a:schemeClr val="tx2"/>
                </a:solidFill>
              </a:rPr>
              <a:t>The problem</a:t>
            </a:r>
            <a:endParaRPr lang="en-US" sz="2000" dirty="0"/>
          </a:p>
        </p:txBody>
      </p:sp>
      <p:sp>
        <p:nvSpPr>
          <p:cNvPr id="4" name="Text 2"/>
          <p:cNvSpPr/>
          <p:nvPr/>
        </p:nvSpPr>
        <p:spPr>
          <a:xfrm>
            <a:off x="548640" y="187452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Thousands of headlines and posts a day; the few that matter (a strait closed, a lender in default, an inflation surprise) are buried in noise</a:t>
            </a:r>
            <a:endParaRPr lang="en-US" sz="1600" dirty="0"/>
          </a:p>
          <a:p>
            <a:pPr marL="342900" indent="-342900">
              <a:spcAft>
                <a:spcPts val="1000"/>
              </a:spcAft>
              <a:buSzPct val="100000"/>
              <a:buChar char="•"/>
            </a:pPr>
            <a:r>
              <a:rPr lang="en-US" sz="1600" dirty="0">
                <a:solidFill>
                  <a:schemeClr val="tx1"/>
                </a:solidFill>
              </a:rPr>
              <a:t>Scheduled stress tests and manual rebalancing react days after the market already has</a:t>
            </a:r>
            <a:endParaRPr lang="en-US" sz="1600" dirty="0"/>
          </a:p>
          <a:p>
            <a:pPr marL="342900" indent="-342900">
              <a:spcAft>
                <a:spcPts val="1000"/>
              </a:spcAft>
              <a:buSzPct val="100000"/>
              <a:buChar char="•"/>
            </a:pPr>
            <a:r>
              <a:rPr lang="en-US" sz="1600" dirty="0">
                <a:solidFill>
                  <a:schemeClr val="tx1"/>
                </a:solidFill>
              </a:rPr>
              <a:t>Black-box scores cannot be challenged, which makes them hard to govern in a bank</a:t>
            </a:r>
            <a:endParaRPr lang="en-US" sz="1600" dirty="0"/>
          </a:p>
        </p:txBody>
      </p:sp>
      <p:sp>
        <p:nvSpPr>
          <p:cNvPr id="5" name="Text 3"/>
          <p:cNvSpPr txBox="1"/>
          <p:nvPr/>
        </p:nvSpPr>
        <p:spPr>
          <a:xfrm>
            <a:off x="5943600" y="1371600"/>
            <a:ext cx="5669280" cy="411480"/>
          </a:xfrm>
          <a:prstGeom prst="rect">
            <a:avLst/>
          </a:prstGeom>
          <a:noFill/>
          <a:ln/>
        </p:spPr>
        <p:txBody>
          <a:bodyPr wrap="square" lIns="0" tIns="0" rIns="0" bIns="0" rtlCol="0" anchor="ctr"/>
          <a:lstStyle/>
          <a:p>
            <a:pPr indent="0" marL="0">
              <a:buNone/>
            </a:pPr>
            <a:r>
              <a:rPr lang="en-US" sz="2000" b="1" dirty="0">
                <a:solidFill>
                  <a:schemeClr val="tx2"/>
                </a:solidFill>
              </a:rPr>
              <a:t>Our approach</a:t>
            </a:r>
            <a:endParaRPr lang="en-US" sz="2000" dirty="0"/>
          </a:p>
        </p:txBody>
      </p:sp>
      <p:sp>
        <p:nvSpPr>
          <p:cNvPr id="6" name="icon circle"/>
          <p:cNvSpPr/>
          <p:nvPr/>
        </p:nvSpPr>
        <p:spPr>
          <a:xfrm>
            <a:off x="5943600" y="1874520"/>
            <a:ext cx="731520" cy="731520"/>
          </a:xfrm>
          <a:prstGeom prst="ellipse">
            <a:avLst/>
          </a:prstGeom>
          <a:solidFill>
            <a:schemeClr val="tx1"/>
          </a:solidFill>
          <a:ln/>
        </p:spPr>
      </p:sp>
      <p:pic>
        <p:nvPicPr>
          <p:cNvPr id="7" name="icon" descr="preencoded.png">    </p:cNvPr>
          <p:cNvPicPr>
            <a:picLocks noChangeAspect="1"/>
          </p:cNvPicPr>
          <p:nvPr/>
        </p:nvPicPr>
        <p:blipFill>
          <a:blip r:embed="rId1"/>
          <a:stretch>
            <a:fillRect/>
          </a:stretch>
        </p:blipFill>
        <p:spPr>
          <a:xfrm>
            <a:off x="6141110" y="2072030"/>
            <a:ext cx="336499" cy="336499"/>
          </a:xfrm>
          <a:prstGeom prst="rect">
            <a:avLst/>
          </a:prstGeom>
        </p:spPr>
      </p:pic>
      <p:sp>
        <p:nvSpPr>
          <p:cNvPr id="8" name="Text 5"/>
          <p:cNvSpPr txBox="1"/>
          <p:nvPr/>
        </p:nvSpPr>
        <p:spPr>
          <a:xfrm>
            <a:off x="6858000" y="1856232"/>
            <a:ext cx="4754880" cy="347472"/>
          </a:xfrm>
          <a:prstGeom prst="rect">
            <a:avLst/>
          </a:prstGeom>
          <a:noFill/>
          <a:ln/>
        </p:spPr>
        <p:txBody>
          <a:bodyPr wrap="square" lIns="0" tIns="0" rIns="0" bIns="0" rtlCol="0" anchor="ctr"/>
          <a:lstStyle/>
          <a:p>
            <a:pPr indent="0" marL="0">
              <a:buNone/>
            </a:pPr>
            <a:r>
              <a:rPr lang="en-US" sz="1700" b="1" dirty="0">
                <a:solidFill>
                  <a:schemeClr val="tx1"/>
                </a:solidFill>
              </a:rPr>
              <a:t>Ingest</a:t>
            </a:r>
            <a:endParaRPr lang="en-US" sz="1700" dirty="0"/>
          </a:p>
        </p:txBody>
      </p:sp>
      <p:sp>
        <p:nvSpPr>
          <p:cNvPr id="9" name="Text 6"/>
          <p:cNvSpPr txBox="1"/>
          <p:nvPr/>
        </p:nvSpPr>
        <p:spPr>
          <a:xfrm>
            <a:off x="6858000" y="2203704"/>
            <a:ext cx="4754880" cy="548640"/>
          </a:xfrm>
          <a:prstGeom prst="rect">
            <a:avLst/>
          </a:prstGeom>
          <a:noFill/>
          <a:ln/>
        </p:spPr>
        <p:txBody>
          <a:bodyPr wrap="square" lIns="0" tIns="0" rIns="0" bIns="0" rtlCol="0" anchor="t"/>
          <a:lstStyle/>
          <a:p>
            <a:pPr indent="0" marL="0">
              <a:buNone/>
            </a:pPr>
            <a:r>
              <a:rPr lang="en-US" sz="1400" dirty="0">
                <a:solidFill>
                  <a:schemeClr val="accent5"/>
                </a:solidFill>
              </a:rPr>
              <a:t>News (NewsAPI, GDELT, RSS) + social (Reddit, X-style) through fault-tolerant connectors</a:t>
            </a:r>
            <a:endParaRPr lang="en-US" sz="1400" dirty="0"/>
          </a:p>
        </p:txBody>
      </p:sp>
      <p:sp>
        <p:nvSpPr>
          <p:cNvPr id="10" name="icon circle"/>
          <p:cNvSpPr/>
          <p:nvPr/>
        </p:nvSpPr>
        <p:spPr>
          <a:xfrm>
            <a:off x="5943600" y="2898648"/>
            <a:ext cx="731520" cy="731520"/>
          </a:xfrm>
          <a:prstGeom prst="ellipse">
            <a:avLst/>
          </a:prstGeom>
          <a:solidFill>
            <a:schemeClr val="tx1"/>
          </a:solidFill>
          <a:ln/>
        </p:spPr>
      </p:sp>
      <p:pic>
        <p:nvPicPr>
          <p:cNvPr id="11" name="icon" descr="preencoded.png">    </p:cNvPr>
          <p:cNvPicPr>
            <a:picLocks noChangeAspect="1"/>
          </p:cNvPicPr>
          <p:nvPr/>
        </p:nvPicPr>
        <p:blipFill>
          <a:blip r:embed="rId2"/>
          <a:stretch>
            <a:fillRect/>
          </a:stretch>
        </p:blipFill>
        <p:spPr>
          <a:xfrm>
            <a:off x="6141110" y="3096158"/>
            <a:ext cx="336499" cy="336499"/>
          </a:xfrm>
          <a:prstGeom prst="rect">
            <a:avLst/>
          </a:prstGeom>
        </p:spPr>
      </p:pic>
      <p:sp>
        <p:nvSpPr>
          <p:cNvPr id="12" name="Text 8"/>
          <p:cNvSpPr txBox="1"/>
          <p:nvPr/>
        </p:nvSpPr>
        <p:spPr>
          <a:xfrm>
            <a:off x="6858000" y="2880360"/>
            <a:ext cx="4754880" cy="347472"/>
          </a:xfrm>
          <a:prstGeom prst="rect">
            <a:avLst/>
          </a:prstGeom>
          <a:noFill/>
          <a:ln/>
        </p:spPr>
        <p:txBody>
          <a:bodyPr wrap="square" lIns="0" tIns="0" rIns="0" bIns="0" rtlCol="0" anchor="ctr"/>
          <a:lstStyle/>
          <a:p>
            <a:pPr indent="0" marL="0">
              <a:buNone/>
            </a:pPr>
            <a:r>
              <a:rPr lang="en-US" sz="1700" b="1" dirty="0">
                <a:solidFill>
                  <a:schemeClr val="tx1"/>
                </a:solidFill>
              </a:rPr>
              <a:t>Understand</a:t>
            </a:r>
            <a:endParaRPr lang="en-US" sz="1700" dirty="0"/>
          </a:p>
        </p:txBody>
      </p:sp>
      <p:sp>
        <p:nvSpPr>
          <p:cNvPr id="13" name="Text 9"/>
          <p:cNvSpPr txBox="1"/>
          <p:nvPr/>
        </p:nvSpPr>
        <p:spPr>
          <a:xfrm>
            <a:off x="6858000" y="3227832"/>
            <a:ext cx="4754880" cy="548640"/>
          </a:xfrm>
          <a:prstGeom prst="rect">
            <a:avLst/>
          </a:prstGeom>
          <a:noFill/>
          <a:ln/>
        </p:spPr>
        <p:txBody>
          <a:bodyPr wrap="square" lIns="0" tIns="0" rIns="0" bIns="0" rtlCol="0" anchor="t"/>
          <a:lstStyle/>
          <a:p>
            <a:pPr indent="0" marL="0">
              <a:buNone/>
            </a:pPr>
            <a:r>
              <a:rPr lang="en-US" sz="1400" dirty="0">
                <a:solidFill>
                  <a:schemeClr val="accent5"/>
                </a:solidFill>
              </a:rPr>
              <a:t>Entity linking → entity-targeted sentiment + event classification</a:t>
            </a:r>
            <a:endParaRPr lang="en-US" sz="1400" dirty="0"/>
          </a:p>
        </p:txBody>
      </p:sp>
      <p:sp>
        <p:nvSpPr>
          <p:cNvPr id="14" name="icon circle"/>
          <p:cNvSpPr/>
          <p:nvPr/>
        </p:nvSpPr>
        <p:spPr>
          <a:xfrm>
            <a:off x="5943600" y="3922776"/>
            <a:ext cx="731520" cy="731520"/>
          </a:xfrm>
          <a:prstGeom prst="ellipse">
            <a:avLst/>
          </a:prstGeom>
          <a:solidFill>
            <a:schemeClr val="tx1"/>
          </a:solidFill>
          <a:ln/>
        </p:spPr>
      </p:sp>
      <p:pic>
        <p:nvPicPr>
          <p:cNvPr id="15" name="icon" descr="preencoded.png">    </p:cNvPr>
          <p:cNvPicPr>
            <a:picLocks noChangeAspect="1"/>
          </p:cNvPicPr>
          <p:nvPr/>
        </p:nvPicPr>
        <p:blipFill>
          <a:blip r:embed="rId3"/>
          <a:stretch>
            <a:fillRect/>
          </a:stretch>
        </p:blipFill>
        <p:spPr>
          <a:xfrm>
            <a:off x="6141110" y="4120286"/>
            <a:ext cx="336499" cy="336499"/>
          </a:xfrm>
          <a:prstGeom prst="rect">
            <a:avLst/>
          </a:prstGeom>
        </p:spPr>
      </p:pic>
      <p:sp>
        <p:nvSpPr>
          <p:cNvPr id="16" name="Text 11"/>
          <p:cNvSpPr txBox="1"/>
          <p:nvPr/>
        </p:nvSpPr>
        <p:spPr>
          <a:xfrm>
            <a:off x="6858000" y="3904488"/>
            <a:ext cx="4754880" cy="347472"/>
          </a:xfrm>
          <a:prstGeom prst="rect">
            <a:avLst/>
          </a:prstGeom>
          <a:noFill/>
          <a:ln/>
        </p:spPr>
        <p:txBody>
          <a:bodyPr wrap="square" lIns="0" tIns="0" rIns="0" bIns="0" rtlCol="0" anchor="ctr"/>
          <a:lstStyle/>
          <a:p>
            <a:pPr indent="0" marL="0">
              <a:buNone/>
            </a:pPr>
            <a:r>
              <a:rPr lang="en-US" sz="1700" b="1" dirty="0">
                <a:solidFill>
                  <a:schemeClr val="tx1"/>
                </a:solidFill>
              </a:rPr>
              <a:t>Score</a:t>
            </a:r>
            <a:endParaRPr lang="en-US" sz="1700" dirty="0"/>
          </a:p>
        </p:txBody>
      </p:sp>
      <p:sp>
        <p:nvSpPr>
          <p:cNvPr id="17" name="Text 12"/>
          <p:cNvSpPr txBox="1"/>
          <p:nvPr/>
        </p:nvSpPr>
        <p:spPr>
          <a:xfrm>
            <a:off x="6858000" y="4251960"/>
            <a:ext cx="4754880" cy="548640"/>
          </a:xfrm>
          <a:prstGeom prst="rect">
            <a:avLst/>
          </a:prstGeom>
          <a:noFill/>
          <a:ln/>
        </p:spPr>
        <p:txBody>
          <a:bodyPr wrap="square" lIns="0" tIns="0" rIns="0" bIns="0" rtlCol="0" anchor="t"/>
          <a:lstStyle/>
          <a:p>
            <a:pPr indent="0" marL="0">
              <a:buNone/>
            </a:pPr>
            <a:r>
              <a:rPr lang="en-US" sz="1400" dirty="0">
                <a:solidFill>
                  <a:schemeClr val="accent5"/>
                </a:solidFill>
              </a:rPr>
              <a:t>Explainable Impact Score 1–10 with its driver decomposition</a:t>
            </a:r>
            <a:endParaRPr lang="en-US" sz="1400" dirty="0"/>
          </a:p>
        </p:txBody>
      </p:sp>
      <p:sp>
        <p:nvSpPr>
          <p:cNvPr id="18" name="icon circle"/>
          <p:cNvSpPr/>
          <p:nvPr/>
        </p:nvSpPr>
        <p:spPr>
          <a:xfrm>
            <a:off x="5943600" y="4946904"/>
            <a:ext cx="731520" cy="731520"/>
          </a:xfrm>
          <a:prstGeom prst="ellipse">
            <a:avLst/>
          </a:prstGeom>
          <a:solidFill>
            <a:schemeClr val="tx1"/>
          </a:solidFill>
          <a:ln/>
        </p:spPr>
      </p:sp>
      <p:pic>
        <p:nvPicPr>
          <p:cNvPr id="19" name="icon" descr="preencoded.png">    </p:cNvPr>
          <p:cNvPicPr>
            <a:picLocks noChangeAspect="1"/>
          </p:cNvPicPr>
          <p:nvPr/>
        </p:nvPicPr>
        <p:blipFill>
          <a:blip r:embed="rId4"/>
          <a:stretch>
            <a:fillRect/>
          </a:stretch>
        </p:blipFill>
        <p:spPr>
          <a:xfrm>
            <a:off x="6141110" y="5144414"/>
            <a:ext cx="336499" cy="336499"/>
          </a:xfrm>
          <a:prstGeom prst="rect">
            <a:avLst/>
          </a:prstGeom>
        </p:spPr>
      </p:pic>
      <p:sp>
        <p:nvSpPr>
          <p:cNvPr id="20" name="Text 14"/>
          <p:cNvSpPr txBox="1"/>
          <p:nvPr/>
        </p:nvSpPr>
        <p:spPr>
          <a:xfrm>
            <a:off x="6858000" y="4928616"/>
            <a:ext cx="4754880" cy="347472"/>
          </a:xfrm>
          <a:prstGeom prst="rect">
            <a:avLst/>
          </a:prstGeom>
          <a:noFill/>
          <a:ln/>
        </p:spPr>
        <p:txBody>
          <a:bodyPr wrap="square" lIns="0" tIns="0" rIns="0" bIns="0" rtlCol="0" anchor="ctr"/>
          <a:lstStyle/>
          <a:p>
            <a:pPr indent="0" marL="0">
              <a:buNone/>
            </a:pPr>
            <a:r>
              <a:rPr lang="en-US" sz="1700" b="1" dirty="0">
                <a:solidFill>
                  <a:schemeClr val="tx1"/>
                </a:solidFill>
              </a:rPr>
              <a:t>Act</a:t>
            </a:r>
            <a:endParaRPr lang="en-US" sz="1700" dirty="0"/>
          </a:p>
        </p:txBody>
      </p:sp>
      <p:sp>
        <p:nvSpPr>
          <p:cNvPr id="21" name="Text 15"/>
          <p:cNvSpPr txBox="1"/>
          <p:nvPr/>
        </p:nvSpPr>
        <p:spPr>
          <a:xfrm>
            <a:off x="6858000" y="5276088"/>
            <a:ext cx="4754880" cy="548640"/>
          </a:xfrm>
          <a:prstGeom prst="rect">
            <a:avLst/>
          </a:prstGeom>
          <a:noFill/>
          <a:ln/>
        </p:spPr>
        <p:txBody>
          <a:bodyPr wrap="square" lIns="0" tIns="0" rIns="0" bIns="0" rtlCol="0" anchor="t"/>
          <a:lstStyle/>
          <a:p>
            <a:pPr indent="0" marL="0">
              <a:buNone/>
            </a:pPr>
            <a:r>
              <a:rPr lang="en-US" sz="1400" dirty="0">
                <a:solidFill>
                  <a:schemeClr val="accent5"/>
                </a:solidFill>
              </a:rPr>
              <a:t>Module A tilts the index; Module B stress-tests on impact &gt; 7</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One engine, one signal contract, two consumers</a:t>
            </a:r>
            <a:endParaRPr lang="en-US" sz="3400" dirty="0"/>
          </a:p>
        </p:txBody>
      </p:sp>
      <p:sp>
        <p:nvSpPr>
          <p:cNvPr id="3" name="engine container"/>
          <p:cNvSpPr/>
          <p:nvPr/>
        </p:nvSpPr>
        <p:spPr>
          <a:xfrm>
            <a:off x="2377440" y="1280160"/>
            <a:ext cx="4069080" cy="2834640"/>
          </a:xfrm>
          <a:prstGeom prst="roundRect">
            <a:avLst>
              <a:gd name="adj" fmla="val 3226"/>
            </a:avLst>
          </a:prstGeom>
          <a:solidFill>
            <a:srgbClr val="EEF4FC"/>
          </a:solidFill>
          <a:ln w="15875">
            <a:solidFill>
              <a:srgbClr val="2A78D6"/>
            </a:solidFill>
            <a:prstDash val="solid"/>
          </a:ln>
        </p:spPr>
      </p:sp>
      <p:sp>
        <p:nvSpPr>
          <p:cNvPr id="4" name="Text 2"/>
          <p:cNvSpPr txBox="1"/>
          <p:nvPr/>
        </p:nvSpPr>
        <p:spPr>
          <a:xfrm>
            <a:off x="2514600" y="1344168"/>
            <a:ext cx="2743200" cy="320040"/>
          </a:xfrm>
          <a:prstGeom prst="rect">
            <a:avLst/>
          </a:prstGeom>
          <a:noFill/>
          <a:ln/>
        </p:spPr>
        <p:txBody>
          <a:bodyPr wrap="square" lIns="0" tIns="0" rIns="0" bIns="0" rtlCol="0" anchor="ctr"/>
          <a:lstStyle/>
          <a:p>
            <a:pPr indent="0" marL="0">
              <a:buNone/>
            </a:pPr>
            <a:r>
              <a:rPr lang="en-US" sz="1300" b="1" dirty="0">
                <a:solidFill>
                  <a:schemeClr val="accent2"/>
                </a:solidFill>
              </a:rPr>
              <a:t>AI/NLP Risk Engine</a:t>
            </a:r>
            <a:endParaRPr lang="en-US" sz="1300" dirty="0"/>
          </a:p>
        </p:txBody>
      </p:sp>
      <p:sp>
        <p:nvSpPr>
          <p:cNvPr id="5" name="diagram node: News"/>
          <p:cNvSpPr/>
          <p:nvPr/>
        </p:nvSpPr>
        <p:spPr>
          <a:xfrm>
            <a:off x="548640" y="1600200"/>
            <a:ext cx="1554480" cy="914400"/>
          </a:xfrm>
          <a:prstGeom prst="roundRect">
            <a:avLst>
              <a:gd name="adj" fmla="val 8000"/>
            </a:avLst>
          </a:prstGeom>
          <a:solidFill>
            <a:schemeClr val="bg1"/>
          </a:solidFill>
          <a:ln w="15875">
            <a:solidFill>
              <a:srgbClr val="8FA3BF"/>
            </a:solidFill>
            <a:prstDash val="solid"/>
          </a:ln>
        </p:spPr>
      </p:sp>
      <p:sp>
        <p:nvSpPr>
          <p:cNvPr id="6" name="Text 4"/>
          <p:cNvSpPr txBox="1"/>
          <p:nvPr/>
        </p:nvSpPr>
        <p:spPr>
          <a:xfrm>
            <a:off x="548640" y="1600200"/>
            <a:ext cx="155448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News</a:t>
            </a:r>
            <a:endParaRPr lang="en-US" sz="1400" dirty="0"/>
          </a:p>
          <a:p>
            <a:pPr algn="ctr" indent="0" marL="0">
              <a:buNone/>
            </a:pPr>
            <a:r>
              <a:rPr lang="en-US" sz="1100" dirty="0">
                <a:solidFill>
                  <a:schemeClr val="accent5"/>
                </a:solidFill>
              </a:rPr>
              <a:t>NewsAPI · GDELT · RSS</a:t>
            </a:r>
            <a:endParaRPr lang="en-US" sz="1400" dirty="0"/>
          </a:p>
        </p:txBody>
      </p:sp>
      <p:sp>
        <p:nvSpPr>
          <p:cNvPr id="7" name="diagram node: Social"/>
          <p:cNvSpPr/>
          <p:nvPr/>
        </p:nvSpPr>
        <p:spPr>
          <a:xfrm>
            <a:off x="548640" y="2880360"/>
            <a:ext cx="1554480" cy="914400"/>
          </a:xfrm>
          <a:prstGeom prst="roundRect">
            <a:avLst>
              <a:gd name="adj" fmla="val 8000"/>
            </a:avLst>
          </a:prstGeom>
          <a:solidFill>
            <a:schemeClr val="bg1"/>
          </a:solidFill>
          <a:ln w="15875">
            <a:solidFill>
              <a:srgbClr val="8FA3BF"/>
            </a:solidFill>
            <a:prstDash val="solid"/>
          </a:ln>
        </p:spPr>
      </p:sp>
      <p:sp>
        <p:nvSpPr>
          <p:cNvPr id="8" name="Text 6"/>
          <p:cNvSpPr txBox="1"/>
          <p:nvPr/>
        </p:nvSpPr>
        <p:spPr>
          <a:xfrm>
            <a:off x="548640" y="2880360"/>
            <a:ext cx="155448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Social</a:t>
            </a:r>
            <a:endParaRPr lang="en-US" sz="1400" dirty="0"/>
          </a:p>
          <a:p>
            <a:pPr algn="ctr" indent="0" marL="0">
              <a:buNone/>
            </a:pPr>
            <a:r>
              <a:rPr lang="en-US" sz="1100" dirty="0">
                <a:solidFill>
                  <a:schemeClr val="accent5"/>
                </a:solidFill>
              </a:rPr>
              <a:t>Reddit · X-style posts</a:t>
            </a:r>
            <a:endParaRPr lang="en-US" sz="1400" dirty="0"/>
          </a:p>
        </p:txBody>
      </p:sp>
      <p:sp>
        <p:nvSpPr>
          <p:cNvPr id="9" name="diagram node: Entity linking"/>
          <p:cNvSpPr/>
          <p:nvPr/>
        </p:nvSpPr>
        <p:spPr>
          <a:xfrm>
            <a:off x="2560320" y="2240280"/>
            <a:ext cx="1188720" cy="914400"/>
          </a:xfrm>
          <a:prstGeom prst="roundRect">
            <a:avLst>
              <a:gd name="adj" fmla="val 8000"/>
            </a:avLst>
          </a:prstGeom>
          <a:solidFill>
            <a:schemeClr val="bg1"/>
          </a:solidFill>
          <a:ln w="15875">
            <a:solidFill>
              <a:srgbClr val="8FA3BF"/>
            </a:solidFill>
            <a:prstDash val="solid"/>
          </a:ln>
        </p:spPr>
      </p:sp>
      <p:sp>
        <p:nvSpPr>
          <p:cNvPr id="10" name="Text 8"/>
          <p:cNvSpPr txBox="1"/>
          <p:nvPr/>
        </p:nvSpPr>
        <p:spPr>
          <a:xfrm>
            <a:off x="2560320" y="2240280"/>
            <a:ext cx="118872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Entity linking</a:t>
            </a:r>
            <a:endParaRPr lang="en-US" sz="1400" dirty="0"/>
          </a:p>
          <a:p>
            <a:pPr algn="ctr" indent="0" marL="0">
              <a:buNone/>
            </a:pPr>
            <a:r>
              <a:rPr lang="en-US" sz="1100" dirty="0">
                <a:solidFill>
                  <a:schemeClr val="accent5"/>
                </a:solidFill>
              </a:rPr>
              <a:t>tickers · sectors · regions</a:t>
            </a:r>
            <a:endParaRPr lang="en-US" sz="1400" dirty="0"/>
          </a:p>
        </p:txBody>
      </p:sp>
      <p:sp>
        <p:nvSpPr>
          <p:cNvPr id="11" name="diagram node: Sentiment"/>
          <p:cNvSpPr/>
          <p:nvPr/>
        </p:nvSpPr>
        <p:spPr>
          <a:xfrm>
            <a:off x="4023360" y="1783080"/>
            <a:ext cx="1051560" cy="777240"/>
          </a:xfrm>
          <a:prstGeom prst="roundRect">
            <a:avLst>
              <a:gd name="adj" fmla="val 9412"/>
            </a:avLst>
          </a:prstGeom>
          <a:solidFill>
            <a:schemeClr val="bg1"/>
          </a:solidFill>
          <a:ln w="15875">
            <a:solidFill>
              <a:srgbClr val="8FA3BF"/>
            </a:solidFill>
            <a:prstDash val="solid"/>
          </a:ln>
        </p:spPr>
      </p:sp>
      <p:sp>
        <p:nvSpPr>
          <p:cNvPr id="12" name="Text 10"/>
          <p:cNvSpPr txBox="1"/>
          <p:nvPr/>
        </p:nvSpPr>
        <p:spPr>
          <a:xfrm>
            <a:off x="4023360" y="1783080"/>
            <a:ext cx="1051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Sentiment</a:t>
            </a:r>
            <a:endParaRPr lang="en-US" sz="1400" dirty="0"/>
          </a:p>
          <a:p>
            <a:pPr algn="ctr" indent="0" marL="0">
              <a:buNone/>
            </a:pPr>
            <a:r>
              <a:rPr lang="en-US" sz="1100" dirty="0">
                <a:solidFill>
                  <a:schemeClr val="accent5"/>
                </a:solidFill>
              </a:rPr>
              <a:t>−1 … +1</a:t>
            </a:r>
            <a:endParaRPr lang="en-US" sz="1400" dirty="0"/>
          </a:p>
        </p:txBody>
      </p:sp>
      <p:sp>
        <p:nvSpPr>
          <p:cNvPr id="13" name="diagram node: Event type"/>
          <p:cNvSpPr/>
          <p:nvPr/>
        </p:nvSpPr>
        <p:spPr>
          <a:xfrm>
            <a:off x="4023360" y="2880360"/>
            <a:ext cx="1051560" cy="777240"/>
          </a:xfrm>
          <a:prstGeom prst="roundRect">
            <a:avLst>
              <a:gd name="adj" fmla="val 9412"/>
            </a:avLst>
          </a:prstGeom>
          <a:solidFill>
            <a:schemeClr val="bg1"/>
          </a:solidFill>
          <a:ln w="15875">
            <a:solidFill>
              <a:srgbClr val="8FA3BF"/>
            </a:solidFill>
            <a:prstDash val="solid"/>
          </a:ln>
        </p:spPr>
      </p:sp>
      <p:sp>
        <p:nvSpPr>
          <p:cNvPr id="14" name="Text 12"/>
          <p:cNvSpPr txBox="1"/>
          <p:nvPr/>
        </p:nvSpPr>
        <p:spPr>
          <a:xfrm>
            <a:off x="4023360" y="2880360"/>
            <a:ext cx="1051560" cy="777240"/>
          </a:xfrm>
          <a:prstGeom prst="rect">
            <a:avLst/>
          </a:prstGeom>
          <a:noFill/>
          <a:ln/>
        </p:spPr>
        <p:txBody>
          <a:bodyPr wrap="square" lIns="635" tIns="635" rIns="635" bIns="635" rtlCol="0" anchor="ctr"/>
          <a:lstStyle/>
          <a:p>
            <a:pPr algn="ctr" indent="0" marL="0">
              <a:buNone/>
            </a:pPr>
            <a:r>
              <a:rPr lang="en-US" sz="1400" b="1" dirty="0">
                <a:solidFill>
                  <a:schemeClr val="tx1"/>
                </a:solidFill>
              </a:rPr>
              <a:t>Event type</a:t>
            </a:r>
            <a:endParaRPr lang="en-US" sz="1400" dirty="0"/>
          </a:p>
          <a:p>
            <a:pPr algn="ctr" indent="0" marL="0">
              <a:buNone/>
            </a:pPr>
            <a:r>
              <a:rPr lang="en-US" sz="1100" dirty="0">
                <a:solidFill>
                  <a:schemeClr val="accent5"/>
                </a:solidFill>
              </a:rPr>
              <a:t>8 classes</a:t>
            </a:r>
            <a:endParaRPr lang="en-US" sz="1400" dirty="0"/>
          </a:p>
        </p:txBody>
      </p:sp>
      <p:sp>
        <p:nvSpPr>
          <p:cNvPr id="15" name="diagram node: Impact"/>
          <p:cNvSpPr/>
          <p:nvPr/>
        </p:nvSpPr>
        <p:spPr>
          <a:xfrm>
            <a:off x="5349240" y="2286000"/>
            <a:ext cx="914400" cy="822960"/>
          </a:xfrm>
          <a:prstGeom prst="roundRect">
            <a:avLst>
              <a:gd name="adj" fmla="val 8889"/>
            </a:avLst>
          </a:prstGeom>
          <a:solidFill>
            <a:schemeClr val="bg1"/>
          </a:solidFill>
          <a:ln w="15875">
            <a:solidFill>
              <a:srgbClr val="8FA3BF"/>
            </a:solidFill>
            <a:prstDash val="solid"/>
          </a:ln>
        </p:spPr>
      </p:sp>
      <p:sp>
        <p:nvSpPr>
          <p:cNvPr id="16" name="Text 14"/>
          <p:cNvSpPr txBox="1"/>
          <p:nvPr/>
        </p:nvSpPr>
        <p:spPr>
          <a:xfrm>
            <a:off x="5349240" y="2286000"/>
            <a:ext cx="914400" cy="822960"/>
          </a:xfrm>
          <a:prstGeom prst="rect">
            <a:avLst/>
          </a:prstGeom>
          <a:noFill/>
          <a:ln/>
        </p:spPr>
        <p:txBody>
          <a:bodyPr wrap="square" lIns="635" tIns="635" rIns="635" bIns="635" rtlCol="0" anchor="ctr"/>
          <a:lstStyle/>
          <a:p>
            <a:pPr algn="ctr" indent="0" marL="0">
              <a:buNone/>
            </a:pPr>
            <a:r>
              <a:rPr lang="en-US" sz="1400" b="1" dirty="0">
                <a:solidFill>
                  <a:schemeClr val="tx1"/>
                </a:solidFill>
              </a:rPr>
              <a:t>Impact</a:t>
            </a:r>
            <a:endParaRPr lang="en-US" sz="1400" dirty="0"/>
          </a:p>
          <a:p>
            <a:pPr algn="ctr" indent="0" marL="0">
              <a:buNone/>
            </a:pPr>
            <a:r>
              <a:rPr lang="en-US" sz="1100" dirty="0">
                <a:solidFill>
                  <a:schemeClr val="accent5"/>
                </a:solidFill>
              </a:rPr>
              <a:t>1 – 10</a:t>
            </a:r>
            <a:endParaRPr lang="en-US" sz="1400" dirty="0"/>
          </a:p>
        </p:txBody>
      </p:sp>
      <p:sp>
        <p:nvSpPr>
          <p:cNvPr id="17" name="diagram node: RiskSignal"/>
          <p:cNvSpPr/>
          <p:nvPr/>
        </p:nvSpPr>
        <p:spPr>
          <a:xfrm>
            <a:off x="6720840" y="2011680"/>
            <a:ext cx="1508760" cy="1371600"/>
          </a:xfrm>
          <a:prstGeom prst="roundRect">
            <a:avLst>
              <a:gd name="adj" fmla="val 5333"/>
            </a:avLst>
          </a:prstGeom>
          <a:solidFill>
            <a:srgbClr val="FFF6E8"/>
          </a:solidFill>
          <a:ln w="22225">
            <a:solidFill>
              <a:srgbClr val="E8A33D"/>
            </a:solidFill>
            <a:prstDash val="solid"/>
          </a:ln>
        </p:spPr>
      </p:sp>
      <p:sp>
        <p:nvSpPr>
          <p:cNvPr id="18" name="Text 16"/>
          <p:cNvSpPr txBox="1"/>
          <p:nvPr/>
        </p:nvSpPr>
        <p:spPr>
          <a:xfrm>
            <a:off x="6720840" y="2011680"/>
            <a:ext cx="1508760" cy="1371600"/>
          </a:xfrm>
          <a:prstGeom prst="rect">
            <a:avLst/>
          </a:prstGeom>
          <a:noFill/>
          <a:ln/>
        </p:spPr>
        <p:txBody>
          <a:bodyPr wrap="square" lIns="635" tIns="635" rIns="635" bIns="635" rtlCol="0" anchor="ctr"/>
          <a:lstStyle/>
          <a:p>
            <a:pPr algn="ctr" indent="0" marL="0">
              <a:buNone/>
            </a:pPr>
            <a:r>
              <a:rPr lang="en-US" sz="1400" b="1" dirty="0">
                <a:solidFill>
                  <a:schemeClr val="tx1"/>
                </a:solidFill>
              </a:rPr>
              <a:t>RiskSignal</a:t>
            </a:r>
            <a:endParaRPr lang="en-US" sz="1400" dirty="0"/>
          </a:p>
          <a:p>
            <a:pPr algn="ctr" indent="0" marL="0">
              <a:buNone/>
            </a:pPr>
            <a:r>
              <a:rPr lang="en-US" sz="1100" dirty="0">
                <a:solidFill>
                  <a:schemeClr val="accent5"/>
                </a:solidFill>
              </a:rPr>
              <a:t>store · pub/sub · REST API</a:t>
            </a:r>
            <a:endParaRPr lang="en-US" sz="1400" dirty="0"/>
          </a:p>
        </p:txBody>
      </p:sp>
      <p:sp>
        <p:nvSpPr>
          <p:cNvPr id="19" name="diagram node: Module A"/>
          <p:cNvSpPr/>
          <p:nvPr/>
        </p:nvSpPr>
        <p:spPr>
          <a:xfrm>
            <a:off x="8503920" y="1600200"/>
            <a:ext cx="1783080" cy="914400"/>
          </a:xfrm>
          <a:prstGeom prst="roundRect">
            <a:avLst>
              <a:gd name="adj" fmla="val 8000"/>
            </a:avLst>
          </a:prstGeom>
          <a:solidFill>
            <a:srgbClr val="FDF1EC"/>
          </a:solidFill>
          <a:ln w="15875">
            <a:solidFill>
              <a:srgbClr val="EB6834"/>
            </a:solidFill>
            <a:prstDash val="solid"/>
          </a:ln>
        </p:spPr>
      </p:sp>
      <p:sp>
        <p:nvSpPr>
          <p:cNvPr id="20" name="Text 18"/>
          <p:cNvSpPr txBox="1"/>
          <p:nvPr/>
        </p:nvSpPr>
        <p:spPr>
          <a:xfrm>
            <a:off x="8503920" y="1600200"/>
            <a:ext cx="178308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Module A</a:t>
            </a:r>
            <a:endParaRPr lang="en-US" sz="1400" dirty="0"/>
          </a:p>
          <a:p>
            <a:pPr algn="ctr" indent="0" marL="0">
              <a:buNone/>
            </a:pPr>
            <a:r>
              <a:rPr lang="en-US" sz="1100" dirty="0">
                <a:solidFill>
                  <a:schemeClr val="accent5"/>
                </a:solidFill>
              </a:rPr>
              <a:t>sentiment → index weights</a:t>
            </a:r>
            <a:endParaRPr lang="en-US" sz="1400" dirty="0"/>
          </a:p>
        </p:txBody>
      </p:sp>
      <p:sp>
        <p:nvSpPr>
          <p:cNvPr id="21" name="diagram node: Module B"/>
          <p:cNvSpPr/>
          <p:nvPr/>
        </p:nvSpPr>
        <p:spPr>
          <a:xfrm>
            <a:off x="8503920" y="2880360"/>
            <a:ext cx="1783080" cy="914400"/>
          </a:xfrm>
          <a:prstGeom prst="roundRect">
            <a:avLst>
              <a:gd name="adj" fmla="val 8000"/>
            </a:avLst>
          </a:prstGeom>
          <a:solidFill>
            <a:srgbClr val="FDF1EC"/>
          </a:solidFill>
          <a:ln w="15875">
            <a:solidFill>
              <a:srgbClr val="EB6834"/>
            </a:solidFill>
            <a:prstDash val="solid"/>
          </a:ln>
        </p:spPr>
      </p:sp>
      <p:sp>
        <p:nvSpPr>
          <p:cNvPr id="22" name="Text 20"/>
          <p:cNvSpPr txBox="1"/>
          <p:nvPr/>
        </p:nvSpPr>
        <p:spPr>
          <a:xfrm>
            <a:off x="8503920" y="2880360"/>
            <a:ext cx="178308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Module B</a:t>
            </a:r>
            <a:endParaRPr lang="en-US" sz="1400" dirty="0"/>
          </a:p>
          <a:p>
            <a:pPr algn="ctr" indent="0" marL="0">
              <a:buNone/>
            </a:pPr>
            <a:r>
              <a:rPr lang="en-US" sz="1100" dirty="0">
                <a:solidFill>
                  <a:schemeClr val="accent5"/>
                </a:solidFill>
              </a:rPr>
              <a:t>event + impact → stress test</a:t>
            </a:r>
            <a:endParaRPr lang="en-US" sz="1400" dirty="0"/>
          </a:p>
        </p:txBody>
      </p:sp>
      <p:sp>
        <p:nvSpPr>
          <p:cNvPr id="23" name="diagram node: Dashboard"/>
          <p:cNvSpPr/>
          <p:nvPr/>
        </p:nvSpPr>
        <p:spPr>
          <a:xfrm>
            <a:off x="10561320" y="2240280"/>
            <a:ext cx="1051560" cy="914400"/>
          </a:xfrm>
          <a:prstGeom prst="roundRect">
            <a:avLst>
              <a:gd name="adj" fmla="val 8000"/>
            </a:avLst>
          </a:prstGeom>
          <a:solidFill>
            <a:schemeClr val="bg1"/>
          </a:solidFill>
          <a:ln w="15875">
            <a:solidFill>
              <a:srgbClr val="8FA3BF"/>
            </a:solidFill>
            <a:prstDash val="solid"/>
          </a:ln>
        </p:spPr>
      </p:sp>
      <p:sp>
        <p:nvSpPr>
          <p:cNvPr id="24" name="Text 22"/>
          <p:cNvSpPr txBox="1"/>
          <p:nvPr/>
        </p:nvSpPr>
        <p:spPr>
          <a:xfrm>
            <a:off x="10561320" y="2240280"/>
            <a:ext cx="1051560" cy="914400"/>
          </a:xfrm>
          <a:prstGeom prst="rect">
            <a:avLst/>
          </a:prstGeom>
          <a:noFill/>
          <a:ln/>
        </p:spPr>
        <p:txBody>
          <a:bodyPr wrap="square" lIns="635" tIns="635" rIns="635" bIns="635" rtlCol="0" anchor="ctr"/>
          <a:lstStyle/>
          <a:p>
            <a:pPr algn="ctr" indent="0" marL="0">
              <a:buNone/>
            </a:pPr>
            <a:r>
              <a:rPr lang="en-US" sz="1400" b="1" dirty="0">
                <a:solidFill>
                  <a:schemeClr val="tx1"/>
                </a:solidFill>
              </a:rPr>
              <a:t>Dashboard</a:t>
            </a:r>
            <a:endParaRPr lang="en-US" sz="1400" dirty="0"/>
          </a:p>
          <a:p>
            <a:pPr algn="ctr" indent="0" marL="0">
              <a:buNone/>
            </a:pPr>
            <a:r>
              <a:rPr lang="en-US" sz="1100" dirty="0">
                <a:solidFill>
                  <a:schemeClr val="accent5"/>
                </a:solidFill>
              </a:rPr>
              <a:t>Streamlit</a:t>
            </a:r>
            <a:endParaRPr lang="en-US" sz="1400" dirty="0"/>
          </a:p>
        </p:txBody>
      </p:sp>
      <p:sp>
        <p:nvSpPr>
          <p:cNvPr id="25" name="diagram arrow"/>
          <p:cNvSpPr/>
          <p:nvPr/>
        </p:nvSpPr>
        <p:spPr>
          <a:xfrm>
            <a:off x="2103120" y="2057400"/>
            <a:ext cx="457200" cy="502920"/>
          </a:xfrm>
          <a:prstGeom prst="line">
            <a:avLst/>
          </a:prstGeom>
          <a:noFill/>
          <a:ln w="19050">
            <a:solidFill>
              <a:srgbClr val="6B7280"/>
            </a:solidFill>
            <a:prstDash val="solid"/>
            <a:tailEnd type="triangle"/>
          </a:ln>
        </p:spPr>
      </p:sp>
      <p:sp>
        <p:nvSpPr>
          <p:cNvPr id="26" name="diagram arrow"/>
          <p:cNvSpPr/>
          <p:nvPr/>
        </p:nvSpPr>
        <p:spPr>
          <a:xfrm flipV="1">
            <a:off x="2103120" y="2834640"/>
            <a:ext cx="457200" cy="502920"/>
          </a:xfrm>
          <a:prstGeom prst="line">
            <a:avLst/>
          </a:prstGeom>
          <a:noFill/>
          <a:ln w="19050">
            <a:solidFill>
              <a:srgbClr val="6B7280"/>
            </a:solidFill>
            <a:prstDash val="solid"/>
            <a:tailEnd type="triangle"/>
          </a:ln>
        </p:spPr>
      </p:sp>
      <p:sp>
        <p:nvSpPr>
          <p:cNvPr id="27" name="diagram arrow"/>
          <p:cNvSpPr/>
          <p:nvPr/>
        </p:nvSpPr>
        <p:spPr>
          <a:xfrm flipV="1">
            <a:off x="3749040" y="2194560"/>
            <a:ext cx="274320" cy="365760"/>
          </a:xfrm>
          <a:prstGeom prst="line">
            <a:avLst/>
          </a:prstGeom>
          <a:noFill/>
          <a:ln w="19050">
            <a:solidFill>
              <a:srgbClr val="6B7280"/>
            </a:solidFill>
            <a:prstDash val="solid"/>
            <a:tailEnd type="triangle"/>
          </a:ln>
        </p:spPr>
      </p:sp>
      <p:sp>
        <p:nvSpPr>
          <p:cNvPr id="28" name="diagram arrow"/>
          <p:cNvSpPr/>
          <p:nvPr/>
        </p:nvSpPr>
        <p:spPr>
          <a:xfrm>
            <a:off x="3749040" y="2834640"/>
            <a:ext cx="274320" cy="411480"/>
          </a:xfrm>
          <a:prstGeom prst="line">
            <a:avLst/>
          </a:prstGeom>
          <a:noFill/>
          <a:ln w="19050">
            <a:solidFill>
              <a:srgbClr val="6B7280"/>
            </a:solidFill>
            <a:prstDash val="solid"/>
            <a:tailEnd type="triangle"/>
          </a:ln>
        </p:spPr>
      </p:sp>
      <p:sp>
        <p:nvSpPr>
          <p:cNvPr id="29" name="diagram arrow"/>
          <p:cNvSpPr/>
          <p:nvPr/>
        </p:nvSpPr>
        <p:spPr>
          <a:xfrm>
            <a:off x="5074920" y="2194560"/>
            <a:ext cx="274320" cy="365760"/>
          </a:xfrm>
          <a:prstGeom prst="line">
            <a:avLst/>
          </a:prstGeom>
          <a:noFill/>
          <a:ln w="19050">
            <a:solidFill>
              <a:srgbClr val="6B7280"/>
            </a:solidFill>
            <a:prstDash val="solid"/>
            <a:tailEnd type="triangle"/>
          </a:ln>
        </p:spPr>
      </p:sp>
      <p:sp>
        <p:nvSpPr>
          <p:cNvPr id="30" name="diagram arrow"/>
          <p:cNvSpPr/>
          <p:nvPr/>
        </p:nvSpPr>
        <p:spPr>
          <a:xfrm flipV="1">
            <a:off x="5074920" y="2834640"/>
            <a:ext cx="274320" cy="411480"/>
          </a:xfrm>
          <a:prstGeom prst="line">
            <a:avLst/>
          </a:prstGeom>
          <a:noFill/>
          <a:ln w="19050">
            <a:solidFill>
              <a:srgbClr val="6B7280"/>
            </a:solidFill>
            <a:prstDash val="solid"/>
            <a:tailEnd type="triangle"/>
          </a:ln>
        </p:spPr>
      </p:sp>
      <p:sp>
        <p:nvSpPr>
          <p:cNvPr id="31" name="diagram arrow"/>
          <p:cNvSpPr/>
          <p:nvPr/>
        </p:nvSpPr>
        <p:spPr>
          <a:xfrm>
            <a:off x="6263640" y="2697480"/>
            <a:ext cx="457200" cy="914"/>
          </a:xfrm>
          <a:prstGeom prst="line">
            <a:avLst/>
          </a:prstGeom>
          <a:noFill/>
          <a:ln w="19050">
            <a:solidFill>
              <a:srgbClr val="6B7280"/>
            </a:solidFill>
            <a:prstDash val="solid"/>
            <a:tailEnd type="triangle"/>
          </a:ln>
        </p:spPr>
      </p:sp>
      <p:sp>
        <p:nvSpPr>
          <p:cNvPr id="32" name="diagram arrow"/>
          <p:cNvSpPr/>
          <p:nvPr/>
        </p:nvSpPr>
        <p:spPr>
          <a:xfrm flipV="1">
            <a:off x="8229600" y="2057400"/>
            <a:ext cx="274320" cy="411480"/>
          </a:xfrm>
          <a:prstGeom prst="line">
            <a:avLst/>
          </a:prstGeom>
          <a:noFill/>
          <a:ln w="19050">
            <a:solidFill>
              <a:srgbClr val="6B7280"/>
            </a:solidFill>
            <a:prstDash val="solid"/>
            <a:tailEnd type="triangle"/>
          </a:ln>
        </p:spPr>
      </p:sp>
      <p:sp>
        <p:nvSpPr>
          <p:cNvPr id="33" name="diagram arrow"/>
          <p:cNvSpPr/>
          <p:nvPr/>
        </p:nvSpPr>
        <p:spPr>
          <a:xfrm>
            <a:off x="8229600" y="2926080"/>
            <a:ext cx="274320" cy="411480"/>
          </a:xfrm>
          <a:prstGeom prst="line">
            <a:avLst/>
          </a:prstGeom>
          <a:noFill/>
          <a:ln w="19050">
            <a:solidFill>
              <a:srgbClr val="6B7280"/>
            </a:solidFill>
            <a:prstDash val="solid"/>
            <a:tailEnd type="triangle"/>
          </a:ln>
        </p:spPr>
      </p:sp>
      <p:sp>
        <p:nvSpPr>
          <p:cNvPr id="34" name="diagram arrow"/>
          <p:cNvSpPr/>
          <p:nvPr/>
        </p:nvSpPr>
        <p:spPr>
          <a:xfrm>
            <a:off x="10287000" y="2057400"/>
            <a:ext cx="274320" cy="502920"/>
          </a:xfrm>
          <a:prstGeom prst="line">
            <a:avLst/>
          </a:prstGeom>
          <a:noFill/>
          <a:ln w="19050">
            <a:solidFill>
              <a:srgbClr val="6B7280"/>
            </a:solidFill>
            <a:prstDash val="solid"/>
            <a:tailEnd type="triangle"/>
          </a:ln>
        </p:spPr>
      </p:sp>
      <p:sp>
        <p:nvSpPr>
          <p:cNvPr id="35" name="diagram arrow"/>
          <p:cNvSpPr/>
          <p:nvPr/>
        </p:nvSpPr>
        <p:spPr>
          <a:xfrm flipV="1">
            <a:off x="10287000" y="2834640"/>
            <a:ext cx="274320" cy="502920"/>
          </a:xfrm>
          <a:prstGeom prst="line">
            <a:avLst/>
          </a:prstGeom>
          <a:noFill/>
          <a:ln w="19050">
            <a:solidFill>
              <a:srgbClr val="6B7280"/>
            </a:solidFill>
            <a:prstDash val="solid"/>
            <a:tailEnd type="triangle"/>
          </a:ln>
        </p:spPr>
      </p:sp>
      <p:sp>
        <p:nvSpPr>
          <p:cNvPr id="36" name="card"/>
          <p:cNvSpPr/>
          <p:nvPr/>
        </p:nvSpPr>
        <p:spPr>
          <a:xfrm>
            <a:off x="548640" y="4434840"/>
            <a:ext cx="3520440" cy="1554480"/>
          </a:xfrm>
          <a:prstGeom prst="roundRect">
            <a:avLst>
              <a:gd name="adj" fmla="val 4706"/>
            </a:avLst>
          </a:prstGeom>
          <a:solidFill>
            <a:schemeClr val="bg2"/>
          </a:solidFill>
          <a:ln/>
        </p:spPr>
      </p:sp>
      <p:sp>
        <p:nvSpPr>
          <p:cNvPr id="37" name="Text 35"/>
          <p:cNvSpPr txBox="1"/>
          <p:nvPr/>
        </p:nvSpPr>
        <p:spPr>
          <a:xfrm>
            <a:off x="777240" y="4572000"/>
            <a:ext cx="3108960" cy="365760"/>
          </a:xfrm>
          <a:prstGeom prst="rect">
            <a:avLst/>
          </a:prstGeom>
          <a:noFill/>
          <a:ln/>
        </p:spPr>
        <p:txBody>
          <a:bodyPr wrap="square" lIns="0" tIns="0" rIns="0" bIns="0" rtlCol="0" anchor="ctr"/>
          <a:lstStyle/>
          <a:p>
            <a:pPr indent="0" marL="0">
              <a:buNone/>
            </a:pPr>
            <a:r>
              <a:rPr lang="en-US" sz="1600" b="1" dirty="0">
                <a:solidFill>
                  <a:schemeClr val="tx2"/>
                </a:solidFill>
              </a:rPr>
              <a:t>Two source types</a:t>
            </a:r>
            <a:endParaRPr lang="en-US" sz="1600" dirty="0"/>
          </a:p>
        </p:txBody>
      </p:sp>
      <p:sp>
        <p:nvSpPr>
          <p:cNvPr id="38" name="Text 36"/>
          <p:cNvSpPr txBox="1"/>
          <p:nvPr/>
        </p:nvSpPr>
        <p:spPr>
          <a:xfrm>
            <a:off x="777240" y="4956048"/>
            <a:ext cx="3108960" cy="960120"/>
          </a:xfrm>
          <a:prstGeom prst="rect">
            <a:avLst/>
          </a:prstGeom>
          <a:noFill/>
          <a:ln/>
        </p:spPr>
        <p:txBody>
          <a:bodyPr wrap="square" lIns="0" tIns="0" rIns="0" bIns="0" rtlCol="0" anchor="t"/>
          <a:lstStyle/>
          <a:p>
            <a:pPr indent="0" marL="0">
              <a:buNone/>
            </a:pPr>
            <a:r>
              <a:rPr lang="en-US" sz="1300" dirty="0">
                <a:solidFill>
                  <a:schemeClr val="tx1"/>
                </a:solidFill>
              </a:rPr>
              <a:t>News and social connectors normalise everything into one Document; live APIs fail soft, and CSV replay keeps the demo deterministic.</a:t>
            </a:r>
            <a:endParaRPr lang="en-US" sz="1300" dirty="0"/>
          </a:p>
        </p:txBody>
      </p:sp>
      <p:sp>
        <p:nvSpPr>
          <p:cNvPr id="39" name="card"/>
          <p:cNvSpPr/>
          <p:nvPr/>
        </p:nvSpPr>
        <p:spPr>
          <a:xfrm>
            <a:off x="4297680" y="4434840"/>
            <a:ext cx="3520440" cy="1554480"/>
          </a:xfrm>
          <a:prstGeom prst="roundRect">
            <a:avLst>
              <a:gd name="adj" fmla="val 4706"/>
            </a:avLst>
          </a:prstGeom>
          <a:solidFill>
            <a:schemeClr val="bg2"/>
          </a:solidFill>
          <a:ln/>
        </p:spPr>
      </p:sp>
      <p:sp>
        <p:nvSpPr>
          <p:cNvPr id="40" name="Text 38"/>
          <p:cNvSpPr txBox="1"/>
          <p:nvPr/>
        </p:nvSpPr>
        <p:spPr>
          <a:xfrm>
            <a:off x="4526280" y="4572000"/>
            <a:ext cx="3108960" cy="365760"/>
          </a:xfrm>
          <a:prstGeom prst="rect">
            <a:avLst/>
          </a:prstGeom>
          <a:noFill/>
          <a:ln/>
        </p:spPr>
        <p:txBody>
          <a:bodyPr wrap="square" lIns="0" tIns="0" rIns="0" bIns="0" rtlCol="0" anchor="ctr"/>
          <a:lstStyle/>
          <a:p>
            <a:pPr indent="0" marL="0">
              <a:buNone/>
            </a:pPr>
            <a:r>
              <a:rPr lang="en-US" sz="1600" b="1" dirty="0">
                <a:solidFill>
                  <a:schemeClr val="tx2"/>
                </a:solidFill>
              </a:rPr>
              <a:t>Explainable signal</a:t>
            </a:r>
            <a:endParaRPr lang="en-US" sz="1600" dirty="0"/>
          </a:p>
        </p:txBody>
      </p:sp>
      <p:sp>
        <p:nvSpPr>
          <p:cNvPr id="41" name="Text 39"/>
          <p:cNvSpPr txBox="1"/>
          <p:nvPr/>
        </p:nvSpPr>
        <p:spPr>
          <a:xfrm>
            <a:off x="4526280" y="4956048"/>
            <a:ext cx="3108960" cy="960120"/>
          </a:xfrm>
          <a:prstGeom prst="rect">
            <a:avLst/>
          </a:prstGeom>
          <a:noFill/>
          <a:ln/>
        </p:spPr>
        <p:txBody>
          <a:bodyPr wrap="square" lIns="0" tIns="0" rIns="0" bIns="0" rtlCol="0" anchor="t"/>
          <a:lstStyle/>
          <a:p>
            <a:pPr indent="0" marL="0">
              <a:buNone/>
            </a:pPr>
            <a:r>
              <a:rPr lang="en-US" sz="1300" dirty="0">
                <a:solidFill>
                  <a:schemeClr val="tx1"/>
                </a:solidFill>
              </a:rPr>
              <a:t>RiskSignal = entity, sentiment, event, impact, sectors, regions, credibility, plus impact drivers and keyword evidence.</a:t>
            </a:r>
            <a:endParaRPr lang="en-US" sz="1300" dirty="0"/>
          </a:p>
        </p:txBody>
      </p:sp>
      <p:sp>
        <p:nvSpPr>
          <p:cNvPr id="42" name="card"/>
          <p:cNvSpPr/>
          <p:nvPr/>
        </p:nvSpPr>
        <p:spPr>
          <a:xfrm>
            <a:off x="8046720" y="4434840"/>
            <a:ext cx="3520440" cy="1554480"/>
          </a:xfrm>
          <a:prstGeom prst="roundRect">
            <a:avLst>
              <a:gd name="adj" fmla="val 4706"/>
            </a:avLst>
          </a:prstGeom>
          <a:solidFill>
            <a:schemeClr val="bg2"/>
          </a:solidFill>
          <a:ln/>
        </p:spPr>
      </p:sp>
      <p:sp>
        <p:nvSpPr>
          <p:cNvPr id="43" name="Text 41"/>
          <p:cNvSpPr txBox="1"/>
          <p:nvPr/>
        </p:nvSpPr>
        <p:spPr>
          <a:xfrm>
            <a:off x="8275320" y="4572000"/>
            <a:ext cx="3108960" cy="365760"/>
          </a:xfrm>
          <a:prstGeom prst="rect">
            <a:avLst/>
          </a:prstGeom>
          <a:noFill/>
          <a:ln/>
        </p:spPr>
        <p:txBody>
          <a:bodyPr wrap="square" lIns="0" tIns="0" rIns="0" bIns="0" rtlCol="0" anchor="ctr"/>
          <a:lstStyle/>
          <a:p>
            <a:pPr indent="0" marL="0">
              <a:buNone/>
            </a:pPr>
            <a:r>
              <a:rPr lang="en-US" sz="1600" b="1" dirty="0">
                <a:solidFill>
                  <a:schemeClr val="tx2"/>
                </a:solidFill>
              </a:rPr>
              <a:t>Three delivery paths</a:t>
            </a:r>
            <a:endParaRPr lang="en-US" sz="1600" dirty="0"/>
          </a:p>
        </p:txBody>
      </p:sp>
      <p:sp>
        <p:nvSpPr>
          <p:cNvPr id="44" name="Text 42"/>
          <p:cNvSpPr txBox="1"/>
          <p:nvPr/>
        </p:nvSpPr>
        <p:spPr>
          <a:xfrm>
            <a:off x="8275320" y="4956048"/>
            <a:ext cx="3108960" cy="960120"/>
          </a:xfrm>
          <a:prstGeom prst="rect">
            <a:avLst/>
          </a:prstGeom>
          <a:noFill/>
          <a:ln/>
        </p:spPr>
        <p:txBody>
          <a:bodyPr wrap="square" lIns="0" tIns="0" rIns="0" bIns="0" rtlCol="0" anchor="t"/>
          <a:lstStyle/>
          <a:p>
            <a:pPr indent="0" marL="0">
              <a:buNone/>
            </a:pPr>
            <a:r>
              <a:rPr lang="en-US" sz="1300" dirty="0">
                <a:solidFill>
                  <a:schemeClr val="tx1"/>
                </a:solidFill>
              </a:rPr>
              <a:t>Pub/sub topic for in-process subscribers, SQLite/JSONL for files, FastAPI REST for any downstream app.</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Implementation highlights: tech choices and why</a:t>
            </a:r>
            <a:endParaRPr lang="en-US" sz="3400" dirty="0"/>
          </a:p>
        </p:txBody>
      </p:sp>
      <p:sp>
        <p:nvSpPr>
          <p:cNvPr id="3" name="card"/>
          <p:cNvSpPr/>
          <p:nvPr/>
        </p:nvSpPr>
        <p:spPr>
          <a:xfrm>
            <a:off x="548640" y="1325880"/>
            <a:ext cx="3520440" cy="2286000"/>
          </a:xfrm>
          <a:prstGeom prst="roundRect">
            <a:avLst>
              <a:gd name="adj" fmla="val 3200"/>
            </a:avLst>
          </a:prstGeom>
          <a:solidFill>
            <a:schemeClr val="bg2"/>
          </a:solidFill>
          <a:ln/>
        </p:spPr>
      </p:sp>
      <p:sp>
        <p:nvSpPr>
          <p:cNvPr id="4" name="icon circle"/>
          <p:cNvSpPr/>
          <p:nvPr/>
        </p:nvSpPr>
        <p:spPr>
          <a:xfrm>
            <a:off x="777240" y="1554480"/>
            <a:ext cx="566928" cy="566928"/>
          </a:xfrm>
          <a:prstGeom prst="ellipse">
            <a:avLst/>
          </a:prstGeom>
          <a:solidFill>
            <a:schemeClr val="tx2"/>
          </a:solidFill>
          <a:ln/>
        </p:spPr>
      </p:sp>
      <p:pic>
        <p:nvPicPr>
          <p:cNvPr id="5" name="icon" descr="preencoded.png">    </p:cNvPr>
          <p:cNvPicPr>
            <a:picLocks noChangeAspect="1"/>
          </p:cNvPicPr>
          <p:nvPr/>
        </p:nvPicPr>
        <p:blipFill>
          <a:blip r:embed="rId1"/>
          <a:stretch>
            <a:fillRect/>
          </a:stretch>
        </p:blipFill>
        <p:spPr>
          <a:xfrm>
            <a:off x="930311" y="1707551"/>
            <a:ext cx="260787" cy="260787"/>
          </a:xfrm>
          <a:prstGeom prst="rect">
            <a:avLst/>
          </a:prstGeom>
        </p:spPr>
      </p:pic>
      <p:sp>
        <p:nvSpPr>
          <p:cNvPr id="6" name="Text 3"/>
          <p:cNvSpPr txBox="1"/>
          <p:nvPr/>
        </p:nvSpPr>
        <p:spPr>
          <a:xfrm>
            <a:off x="1463040" y="16002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Entity-targeted sentiment</a:t>
            </a:r>
            <a:endParaRPr lang="en-US" sz="1600" dirty="0"/>
          </a:p>
        </p:txBody>
      </p:sp>
      <p:sp>
        <p:nvSpPr>
          <p:cNvPr id="7" name="Text 4"/>
          <p:cNvSpPr txBox="1"/>
          <p:nvPr/>
        </p:nvSpPr>
        <p:spPr>
          <a:xfrm>
            <a:off x="777240" y="2240280"/>
            <a:ext cx="3108960" cy="1280160"/>
          </a:xfrm>
          <a:prstGeom prst="rect">
            <a:avLst/>
          </a:prstGeom>
          <a:noFill/>
          <a:ln/>
        </p:spPr>
        <p:txBody>
          <a:bodyPr wrap="square" lIns="0" tIns="0" rIns="0" bIns="0" rtlCol="0" anchor="t"/>
          <a:lstStyle/>
          <a:p>
            <a:pPr indent="0" marL="0">
              <a:buNone/>
            </a:pPr>
            <a:r>
              <a:rPr lang="en-US" sz="1300" dirty="0">
                <a:solidFill>
                  <a:schemeClr val="tx1"/>
                </a:solidFill>
              </a:rPr>
              <a:t>FinBERT when available; offline: Loughran-McDonald + 80+ finance phrase patterns (“inflation surges” is negative) + VADER + TF-IDF/LR. Each ticker is scored on its own sentences.</a:t>
            </a:r>
            <a:endParaRPr lang="en-US" sz="1300" dirty="0"/>
          </a:p>
        </p:txBody>
      </p:sp>
      <p:sp>
        <p:nvSpPr>
          <p:cNvPr id="8" name="card"/>
          <p:cNvSpPr/>
          <p:nvPr/>
        </p:nvSpPr>
        <p:spPr>
          <a:xfrm>
            <a:off x="4297680" y="1325880"/>
            <a:ext cx="3520440" cy="2286000"/>
          </a:xfrm>
          <a:prstGeom prst="roundRect">
            <a:avLst>
              <a:gd name="adj" fmla="val 3200"/>
            </a:avLst>
          </a:prstGeom>
          <a:solidFill>
            <a:schemeClr val="bg2"/>
          </a:solidFill>
          <a:ln/>
        </p:spPr>
      </p:sp>
      <p:sp>
        <p:nvSpPr>
          <p:cNvPr id="9" name="icon circle"/>
          <p:cNvSpPr/>
          <p:nvPr/>
        </p:nvSpPr>
        <p:spPr>
          <a:xfrm>
            <a:off x="4526280" y="1554480"/>
            <a:ext cx="566928" cy="566928"/>
          </a:xfrm>
          <a:prstGeom prst="ellipse">
            <a:avLst/>
          </a:prstGeom>
          <a:solidFill>
            <a:schemeClr val="tx2"/>
          </a:solidFill>
          <a:ln/>
        </p:spPr>
      </p:sp>
      <p:pic>
        <p:nvPicPr>
          <p:cNvPr id="10" name="icon" descr="preencoded.png">    </p:cNvPr>
          <p:cNvPicPr>
            <a:picLocks noChangeAspect="1"/>
          </p:cNvPicPr>
          <p:nvPr/>
        </p:nvPicPr>
        <p:blipFill>
          <a:blip r:embed="rId2"/>
          <a:stretch>
            <a:fillRect/>
          </a:stretch>
        </p:blipFill>
        <p:spPr>
          <a:xfrm>
            <a:off x="4679351" y="1707551"/>
            <a:ext cx="260787" cy="260787"/>
          </a:xfrm>
          <a:prstGeom prst="rect">
            <a:avLst/>
          </a:prstGeom>
        </p:spPr>
      </p:pic>
      <p:sp>
        <p:nvSpPr>
          <p:cNvPr id="11" name="Text 7"/>
          <p:cNvSpPr txBox="1"/>
          <p:nvPr/>
        </p:nvSpPr>
        <p:spPr>
          <a:xfrm>
            <a:off x="5212080" y="16002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Event taxonomy</a:t>
            </a:r>
            <a:endParaRPr lang="en-US" sz="1600" dirty="0"/>
          </a:p>
        </p:txBody>
      </p:sp>
      <p:sp>
        <p:nvSpPr>
          <p:cNvPr id="12" name="Text 8"/>
          <p:cNvSpPr txBox="1"/>
          <p:nvPr/>
        </p:nvSpPr>
        <p:spPr>
          <a:xfrm>
            <a:off x="4526280" y="2240280"/>
            <a:ext cx="3108960" cy="1280160"/>
          </a:xfrm>
          <a:prstGeom prst="rect">
            <a:avLst/>
          </a:prstGeom>
          <a:noFill/>
          <a:ln/>
        </p:spPr>
        <p:txBody>
          <a:bodyPr wrap="square" lIns="0" tIns="0" rIns="0" bIns="0" rtlCol="0" anchor="t"/>
          <a:lstStyle/>
          <a:p>
            <a:pPr indent="0" marL="0">
              <a:buNone/>
            </a:pPr>
            <a:r>
              <a:rPr lang="en-US" sz="1300" dirty="0">
                <a:solidFill>
                  <a:schemeClr val="tx1"/>
                </a:solidFill>
              </a:rPr>
              <a:t>8 classes from weighted regexes in YAML (title counts double) for speed and auditability; a TF-IDF/LR model takes over when the rules are unsure.</a:t>
            </a:r>
            <a:endParaRPr lang="en-US" sz="1300" dirty="0"/>
          </a:p>
        </p:txBody>
      </p:sp>
      <p:sp>
        <p:nvSpPr>
          <p:cNvPr id="13" name="card"/>
          <p:cNvSpPr/>
          <p:nvPr/>
        </p:nvSpPr>
        <p:spPr>
          <a:xfrm>
            <a:off x="8046720" y="1325880"/>
            <a:ext cx="3520440" cy="2286000"/>
          </a:xfrm>
          <a:prstGeom prst="roundRect">
            <a:avLst>
              <a:gd name="adj" fmla="val 3200"/>
            </a:avLst>
          </a:prstGeom>
          <a:solidFill>
            <a:schemeClr val="bg2"/>
          </a:solidFill>
          <a:ln/>
        </p:spPr>
      </p:sp>
      <p:sp>
        <p:nvSpPr>
          <p:cNvPr id="14" name="icon circle"/>
          <p:cNvSpPr/>
          <p:nvPr/>
        </p:nvSpPr>
        <p:spPr>
          <a:xfrm>
            <a:off x="8275320" y="1554480"/>
            <a:ext cx="566928" cy="566928"/>
          </a:xfrm>
          <a:prstGeom prst="ellipse">
            <a:avLst/>
          </a:prstGeom>
          <a:solidFill>
            <a:schemeClr val="tx2"/>
          </a:solidFill>
          <a:ln/>
        </p:spPr>
      </p:sp>
      <p:pic>
        <p:nvPicPr>
          <p:cNvPr id="15" name="icon" descr="preencoded.png">    </p:cNvPr>
          <p:cNvPicPr>
            <a:picLocks noChangeAspect="1"/>
          </p:cNvPicPr>
          <p:nvPr/>
        </p:nvPicPr>
        <p:blipFill>
          <a:blip r:embed="rId3"/>
          <a:stretch>
            <a:fillRect/>
          </a:stretch>
        </p:blipFill>
        <p:spPr>
          <a:xfrm>
            <a:off x="8428391" y="1707551"/>
            <a:ext cx="260787" cy="260787"/>
          </a:xfrm>
          <a:prstGeom prst="rect">
            <a:avLst/>
          </a:prstGeom>
        </p:spPr>
      </p:pic>
      <p:sp>
        <p:nvSpPr>
          <p:cNvPr id="16" name="Text 11"/>
          <p:cNvSpPr txBox="1"/>
          <p:nvPr/>
        </p:nvSpPr>
        <p:spPr>
          <a:xfrm>
            <a:off x="8961120" y="16002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Impact score 1–10</a:t>
            </a:r>
            <a:endParaRPr lang="en-US" sz="1600" dirty="0"/>
          </a:p>
        </p:txBody>
      </p:sp>
      <p:sp>
        <p:nvSpPr>
          <p:cNvPr id="17" name="Text 12"/>
          <p:cNvSpPr txBox="1"/>
          <p:nvPr/>
        </p:nvSpPr>
        <p:spPr>
          <a:xfrm>
            <a:off x="8275320" y="2240280"/>
            <a:ext cx="3108960" cy="1280160"/>
          </a:xfrm>
          <a:prstGeom prst="rect">
            <a:avLst/>
          </a:prstGeom>
          <a:noFill/>
          <a:ln/>
        </p:spPr>
        <p:txBody>
          <a:bodyPr wrap="square" lIns="0" tIns="0" rIns="0" bIns="0" rtlCol="0" anchor="t"/>
          <a:lstStyle/>
          <a:p>
            <a:pPr indent="0" marL="0">
              <a:buNone/>
            </a:pPr>
            <a:r>
              <a:rPr lang="en-US" sz="1300" dirty="0">
                <a:solidFill>
                  <a:schemeClr val="tx1"/>
                </a:solidFill>
              </a:rPr>
              <a:t>Base severity + tone + intensity + confidence + reach + burst, × source credibility. Every term is stored with the signal.</a:t>
            </a:r>
            <a:endParaRPr lang="en-US" sz="1300" dirty="0"/>
          </a:p>
        </p:txBody>
      </p:sp>
      <p:sp>
        <p:nvSpPr>
          <p:cNvPr id="18" name="card"/>
          <p:cNvSpPr/>
          <p:nvPr/>
        </p:nvSpPr>
        <p:spPr>
          <a:xfrm>
            <a:off x="548640" y="3840480"/>
            <a:ext cx="3520440" cy="2286000"/>
          </a:xfrm>
          <a:prstGeom prst="roundRect">
            <a:avLst>
              <a:gd name="adj" fmla="val 3200"/>
            </a:avLst>
          </a:prstGeom>
          <a:solidFill>
            <a:schemeClr val="bg2"/>
          </a:solidFill>
          <a:ln/>
        </p:spPr>
      </p:sp>
      <p:sp>
        <p:nvSpPr>
          <p:cNvPr id="19" name="icon circle"/>
          <p:cNvSpPr/>
          <p:nvPr/>
        </p:nvSpPr>
        <p:spPr>
          <a:xfrm>
            <a:off x="777240" y="4069080"/>
            <a:ext cx="566928" cy="566928"/>
          </a:xfrm>
          <a:prstGeom prst="ellipse">
            <a:avLst/>
          </a:prstGeom>
          <a:solidFill>
            <a:schemeClr val="tx2"/>
          </a:solidFill>
          <a:ln/>
        </p:spPr>
      </p:sp>
      <p:pic>
        <p:nvPicPr>
          <p:cNvPr id="20" name="icon" descr="preencoded.png">    </p:cNvPr>
          <p:cNvPicPr>
            <a:picLocks noChangeAspect="1"/>
          </p:cNvPicPr>
          <p:nvPr/>
        </p:nvPicPr>
        <p:blipFill>
          <a:blip r:embed="rId4"/>
          <a:stretch>
            <a:fillRect/>
          </a:stretch>
        </p:blipFill>
        <p:spPr>
          <a:xfrm>
            <a:off x="930311" y="4222151"/>
            <a:ext cx="260787" cy="260787"/>
          </a:xfrm>
          <a:prstGeom prst="rect">
            <a:avLst/>
          </a:prstGeom>
        </p:spPr>
      </p:pic>
      <p:sp>
        <p:nvSpPr>
          <p:cNvPr id="21" name="Text 15"/>
          <p:cNvSpPr txBox="1"/>
          <p:nvPr/>
        </p:nvSpPr>
        <p:spPr>
          <a:xfrm>
            <a:off x="1463040" y="41148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Module A rule</a:t>
            </a:r>
            <a:endParaRPr lang="en-US" sz="1600" dirty="0"/>
          </a:p>
        </p:txBody>
      </p:sp>
      <p:sp>
        <p:nvSpPr>
          <p:cNvPr id="22" name="Text 16"/>
          <p:cNvSpPr txBox="1"/>
          <p:nvPr/>
        </p:nvSpPr>
        <p:spPr>
          <a:xfrm>
            <a:off x="777240" y="4754880"/>
            <a:ext cx="3108960" cy="1280160"/>
          </a:xfrm>
          <a:prstGeom prst="rect">
            <a:avLst/>
          </a:prstGeom>
          <a:noFill/>
          <a:ln/>
        </p:spPr>
        <p:txBody>
          <a:bodyPr wrap="square" lIns="0" tIns="0" rIns="0" bIns="0" rtlCol="0" anchor="t"/>
          <a:lstStyle/>
          <a:p>
            <a:pPr indent="0" marL="0">
              <a:buNone/>
            </a:pPr>
            <a:r>
              <a:rPr lang="en-US" sz="1300" dirty="0">
                <a:solidFill>
                  <a:schemeClr val="tx1"/>
                </a:solidFill>
              </a:rPr>
              <a:t>target = base·exp(2·S); S uses a 48h decay and credibility weights; bounds [0.4×, 2×] and ≤18%; 60% smoothing caps turnover.</a:t>
            </a:r>
            <a:endParaRPr lang="en-US" sz="1300" dirty="0"/>
          </a:p>
        </p:txBody>
      </p:sp>
      <p:sp>
        <p:nvSpPr>
          <p:cNvPr id="23" name="card"/>
          <p:cNvSpPr/>
          <p:nvPr/>
        </p:nvSpPr>
        <p:spPr>
          <a:xfrm>
            <a:off x="4297680" y="3840480"/>
            <a:ext cx="3520440" cy="2286000"/>
          </a:xfrm>
          <a:prstGeom prst="roundRect">
            <a:avLst>
              <a:gd name="adj" fmla="val 3200"/>
            </a:avLst>
          </a:prstGeom>
          <a:solidFill>
            <a:schemeClr val="bg2"/>
          </a:solidFill>
          <a:ln/>
        </p:spPr>
      </p:sp>
      <p:sp>
        <p:nvSpPr>
          <p:cNvPr id="24" name="icon circle"/>
          <p:cNvSpPr/>
          <p:nvPr/>
        </p:nvSpPr>
        <p:spPr>
          <a:xfrm>
            <a:off x="4526280" y="4069080"/>
            <a:ext cx="566928" cy="566928"/>
          </a:xfrm>
          <a:prstGeom prst="ellipse">
            <a:avLst/>
          </a:prstGeom>
          <a:solidFill>
            <a:schemeClr val="tx2"/>
          </a:solidFill>
          <a:ln/>
        </p:spPr>
      </p:sp>
      <p:pic>
        <p:nvPicPr>
          <p:cNvPr id="25" name="icon" descr="preencoded.png">    </p:cNvPr>
          <p:cNvPicPr>
            <a:picLocks noChangeAspect="1"/>
          </p:cNvPicPr>
          <p:nvPr/>
        </p:nvPicPr>
        <p:blipFill>
          <a:blip r:embed="rId5"/>
          <a:stretch>
            <a:fillRect/>
          </a:stretch>
        </p:blipFill>
        <p:spPr>
          <a:xfrm>
            <a:off x="4679351" y="4222151"/>
            <a:ext cx="260787" cy="260787"/>
          </a:xfrm>
          <a:prstGeom prst="rect">
            <a:avLst/>
          </a:prstGeom>
        </p:spPr>
      </p:pic>
      <p:sp>
        <p:nvSpPr>
          <p:cNvPr id="26" name="Text 19"/>
          <p:cNvSpPr txBox="1"/>
          <p:nvPr/>
        </p:nvSpPr>
        <p:spPr>
          <a:xfrm>
            <a:off x="5212080" y="41148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Module B valuation</a:t>
            </a:r>
            <a:endParaRPr lang="en-US" sz="1600" dirty="0"/>
          </a:p>
        </p:txBody>
      </p:sp>
      <p:sp>
        <p:nvSpPr>
          <p:cNvPr id="27" name="Text 20"/>
          <p:cNvSpPr txBox="1"/>
          <p:nvPr/>
        </p:nvSpPr>
        <p:spPr>
          <a:xfrm>
            <a:off x="4526280" y="4754880"/>
            <a:ext cx="3108960" cy="1280160"/>
          </a:xfrm>
          <a:prstGeom prst="rect">
            <a:avLst/>
          </a:prstGeom>
          <a:noFill/>
          <a:ln/>
        </p:spPr>
        <p:txBody>
          <a:bodyPr wrap="square" lIns="0" tIns="0" rIns="0" bIns="0" rtlCol="0" anchor="t"/>
          <a:lstStyle/>
          <a:p>
            <a:pPr indent="0" marL="0">
              <a:buNone/>
            </a:pPr>
            <a:r>
              <a:rPr lang="en-US" sz="1300" dirty="0">
                <a:solidFill>
                  <a:schemeClr val="tx1"/>
                </a:solidFill>
              </a:rPr>
              <a:t>Bonds: duration + convexity. Loans: ΔPD·LGD and jump-to-default. IRS/CDS: DV01. Plus FX and equity beta. Reports CET1 = capital / RWA.</a:t>
            </a:r>
            <a:endParaRPr lang="en-US" sz="1300" dirty="0"/>
          </a:p>
        </p:txBody>
      </p:sp>
      <p:sp>
        <p:nvSpPr>
          <p:cNvPr id="28" name="card"/>
          <p:cNvSpPr/>
          <p:nvPr/>
        </p:nvSpPr>
        <p:spPr>
          <a:xfrm>
            <a:off x="8046720" y="3840480"/>
            <a:ext cx="3520440" cy="2286000"/>
          </a:xfrm>
          <a:prstGeom prst="roundRect">
            <a:avLst>
              <a:gd name="adj" fmla="val 3200"/>
            </a:avLst>
          </a:prstGeom>
          <a:solidFill>
            <a:schemeClr val="bg2"/>
          </a:solidFill>
          <a:ln/>
        </p:spPr>
      </p:sp>
      <p:sp>
        <p:nvSpPr>
          <p:cNvPr id="29" name="icon circle"/>
          <p:cNvSpPr/>
          <p:nvPr/>
        </p:nvSpPr>
        <p:spPr>
          <a:xfrm>
            <a:off x="8275320" y="4069080"/>
            <a:ext cx="566928" cy="566928"/>
          </a:xfrm>
          <a:prstGeom prst="ellipse">
            <a:avLst/>
          </a:prstGeom>
          <a:solidFill>
            <a:schemeClr val="tx2"/>
          </a:solidFill>
          <a:ln/>
        </p:spPr>
      </p:sp>
      <p:pic>
        <p:nvPicPr>
          <p:cNvPr id="30" name="icon" descr="preencoded.png">    </p:cNvPr>
          <p:cNvPicPr>
            <a:picLocks noChangeAspect="1"/>
          </p:cNvPicPr>
          <p:nvPr/>
        </p:nvPicPr>
        <p:blipFill>
          <a:blip r:embed="rId6"/>
          <a:stretch>
            <a:fillRect/>
          </a:stretch>
        </p:blipFill>
        <p:spPr>
          <a:xfrm>
            <a:off x="8428391" y="4222151"/>
            <a:ext cx="260787" cy="260787"/>
          </a:xfrm>
          <a:prstGeom prst="rect">
            <a:avLst/>
          </a:prstGeom>
        </p:spPr>
      </p:pic>
      <p:sp>
        <p:nvSpPr>
          <p:cNvPr id="31" name="Text 23"/>
          <p:cNvSpPr txBox="1"/>
          <p:nvPr/>
        </p:nvSpPr>
        <p:spPr>
          <a:xfrm>
            <a:off x="8961120" y="4114800"/>
            <a:ext cx="2468880" cy="502920"/>
          </a:xfrm>
          <a:prstGeom prst="rect">
            <a:avLst/>
          </a:prstGeom>
          <a:noFill/>
          <a:ln/>
        </p:spPr>
        <p:txBody>
          <a:bodyPr wrap="square" lIns="0" tIns="0" rIns="0" bIns="0" rtlCol="0" anchor="ctr"/>
          <a:lstStyle/>
          <a:p>
            <a:pPr indent="0" marL="0">
              <a:buNone/>
            </a:pPr>
            <a:r>
              <a:rPr lang="en-US" sz="1600" b="1" dirty="0">
                <a:solidFill>
                  <a:schemeClr val="tx1"/>
                </a:solidFill>
              </a:rPr>
              <a:t>Built to demo &amp; run live</a:t>
            </a:r>
            <a:endParaRPr lang="en-US" sz="1600" dirty="0"/>
          </a:p>
        </p:txBody>
      </p:sp>
      <p:sp>
        <p:nvSpPr>
          <p:cNvPr id="32" name="Text 24"/>
          <p:cNvSpPr txBox="1"/>
          <p:nvPr/>
        </p:nvSpPr>
        <p:spPr>
          <a:xfrm>
            <a:off x="8275320" y="4754880"/>
            <a:ext cx="3108960" cy="1280160"/>
          </a:xfrm>
          <a:prstGeom prst="rect">
            <a:avLst/>
          </a:prstGeom>
          <a:noFill/>
          <a:ln/>
        </p:spPr>
        <p:txBody>
          <a:bodyPr wrap="square" lIns="0" tIns="0" rIns="0" bIns="0" rtlCol="0" anchor="t"/>
          <a:lstStyle/>
          <a:p>
            <a:pPr indent="0" marL="0">
              <a:buNone/>
            </a:pPr>
            <a:r>
              <a:rPr lang="en-US" sz="1300" dirty="0">
                <a:solidFill>
                  <a:schemeClr val="tx1"/>
                </a:solidFill>
              </a:rPr>
              <a:t>Replay clock streams data in time order with no look-ahead; live mode polls every 5 min; 21 unit tests; one CLI for every task.</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Key results: better than naive baselines, and honest about the gap</a:t>
            </a:r>
            <a:endParaRPr lang="en-US" sz="3400" dirty="0"/>
          </a:p>
        </p:txBody>
      </p:sp>
      <p:graphicFrame>
        <p:nvGraphicFramePr>
          <p:cNvPr id="3" name="Chart 0" descr=""/>
          <p:cNvGraphicFramePr/>
          <p:nvPr/>
        </p:nvGraphicFramePr>
        <p:xfrm>
          <a:off x="548640" y="132588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23560"/>
            <a:ext cx="5760720" cy="548640"/>
          </a:xfrm>
          <a:prstGeom prst="rect">
            <a:avLst/>
          </a:prstGeom>
          <a:noFill/>
          <a:ln/>
        </p:spPr>
        <p:txBody>
          <a:bodyPr wrap="square" lIns="0" tIns="0" rIns="0" bIns="0" rtlCol="0" anchor="t"/>
          <a:lstStyle/>
          <a:p>
            <a:pPr indent="0" marL="0">
              <a:buNone/>
            </a:pPr>
            <a:r>
              <a:rPr lang="en-US" sz="1100" dirty="0">
                <a:solidFill>
                  <a:schemeClr val="accent5"/>
                </a:solidFill>
              </a:rPr>
              <a:t>Baselines: VADER for sentiment, majority class for events. The dev-set score is 92–98%; the gap is why FinBERT is the primary backend.</a:t>
            </a:r>
            <a:endParaRPr lang="en-US" sz="1100" dirty="0"/>
          </a:p>
        </p:txBody>
      </p:sp>
      <p:sp>
        <p:nvSpPr>
          <p:cNvPr id="5" name="card"/>
          <p:cNvSpPr/>
          <p:nvPr/>
        </p:nvSpPr>
        <p:spPr>
          <a:xfrm>
            <a:off x="6720840" y="1371600"/>
            <a:ext cx="4892040" cy="1298448"/>
          </a:xfrm>
          <a:prstGeom prst="roundRect">
            <a:avLst>
              <a:gd name="adj" fmla="val 5634"/>
            </a:avLst>
          </a:prstGeom>
          <a:solidFill>
            <a:schemeClr val="bg2"/>
          </a:solidFill>
          <a:ln/>
        </p:spPr>
      </p:sp>
      <p:sp>
        <p:nvSpPr>
          <p:cNvPr id="6" name="Text 3"/>
          <p:cNvSpPr txBox="1"/>
          <p:nvPr/>
        </p:nvSpPr>
        <p:spPr>
          <a:xfrm>
            <a:off x="6949440" y="1481328"/>
            <a:ext cx="2103120" cy="10515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641</a:t>
            </a:r>
            <a:endParaRPr lang="en-US" sz="3600" dirty="0"/>
          </a:p>
        </p:txBody>
      </p:sp>
      <p:sp>
        <p:nvSpPr>
          <p:cNvPr id="7" name="Text 4"/>
          <p:cNvSpPr txBox="1"/>
          <p:nvPr/>
        </p:nvSpPr>
        <p:spPr>
          <a:xfrm>
            <a:off x="9098280" y="155448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signals from 625 docs</a:t>
            </a:r>
            <a:endParaRPr lang="en-US" sz="1500" dirty="0"/>
          </a:p>
        </p:txBody>
      </p:sp>
      <p:sp>
        <p:nvSpPr>
          <p:cNvPr id="8" name="Text 5"/>
          <p:cNvSpPr txBox="1"/>
          <p:nvPr/>
        </p:nvSpPr>
        <p:spPr>
          <a:xfrm>
            <a:off x="9098280" y="2011680"/>
            <a:ext cx="2377440" cy="548640"/>
          </a:xfrm>
          <a:prstGeom prst="rect">
            <a:avLst/>
          </a:prstGeom>
          <a:noFill/>
          <a:ln/>
        </p:spPr>
        <p:txBody>
          <a:bodyPr wrap="square" lIns="0" tIns="0" rIns="0" bIns="0" rtlCol="0" anchor="t"/>
          <a:lstStyle/>
          <a:p>
            <a:pPr indent="0" marL="0">
              <a:buNone/>
            </a:pPr>
            <a:r>
              <a:rPr lang="en-US" sz="1200" dirty="0">
                <a:solidFill>
                  <a:schemeClr val="accent5"/>
                </a:solidFill>
              </a:rPr>
              <a:t>~90 docs/s offline on 2 vCPU</a:t>
            </a:r>
            <a:endParaRPr lang="en-US" sz="1200" dirty="0"/>
          </a:p>
        </p:txBody>
      </p:sp>
      <p:sp>
        <p:nvSpPr>
          <p:cNvPr id="9" name="card"/>
          <p:cNvSpPr/>
          <p:nvPr/>
        </p:nvSpPr>
        <p:spPr>
          <a:xfrm>
            <a:off x="6720840" y="2852928"/>
            <a:ext cx="4892040" cy="1298448"/>
          </a:xfrm>
          <a:prstGeom prst="roundRect">
            <a:avLst>
              <a:gd name="adj" fmla="val 5634"/>
            </a:avLst>
          </a:prstGeom>
          <a:solidFill>
            <a:schemeClr val="bg2"/>
          </a:solidFill>
          <a:ln/>
        </p:spPr>
      </p:sp>
      <p:sp>
        <p:nvSpPr>
          <p:cNvPr id="10" name="Text 7"/>
          <p:cNvSpPr txBox="1"/>
          <p:nvPr/>
        </p:nvSpPr>
        <p:spPr>
          <a:xfrm>
            <a:off x="6949440" y="2962656"/>
            <a:ext cx="2103120" cy="10515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5</a:t>
            </a:r>
            <a:endParaRPr lang="en-US" sz="3600" dirty="0"/>
          </a:p>
        </p:txBody>
      </p:sp>
      <p:sp>
        <p:nvSpPr>
          <p:cNvPr id="11" name="Text 8"/>
          <p:cNvSpPr txBox="1"/>
          <p:nvPr/>
        </p:nvSpPr>
        <p:spPr>
          <a:xfrm>
            <a:off x="9098280" y="3035808"/>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stress tests auto-triggered</a:t>
            </a:r>
            <a:endParaRPr lang="en-US" sz="1500" dirty="0"/>
          </a:p>
        </p:txBody>
      </p:sp>
      <p:sp>
        <p:nvSpPr>
          <p:cNvPr id="12" name="Text 9"/>
          <p:cNvSpPr txBox="1"/>
          <p:nvPr/>
        </p:nvSpPr>
        <p:spPr>
          <a:xfrm>
            <a:off x="9098280" y="3493008"/>
            <a:ext cx="2377440" cy="548640"/>
          </a:xfrm>
          <a:prstGeom prst="rect">
            <a:avLst/>
          </a:prstGeom>
          <a:noFill/>
          <a:ln/>
        </p:spPr>
        <p:txBody>
          <a:bodyPr wrap="square" lIns="0" tIns="0" rIns="0" bIns="0" rtlCol="0" anchor="t"/>
          <a:lstStyle/>
          <a:p>
            <a:pPr indent="0" marL="0">
              <a:buNone/>
            </a:pPr>
            <a:r>
              <a:rPr lang="en-US" sz="1200" dirty="0">
                <a:solidFill>
                  <a:schemeClr val="accent5"/>
                </a:solidFill>
              </a:rPr>
              <a:t>1 per event cluster; high-impact ceasefire news correctly ignored</a:t>
            </a:r>
            <a:endParaRPr lang="en-US" sz="1200" dirty="0"/>
          </a:p>
        </p:txBody>
      </p:sp>
      <p:sp>
        <p:nvSpPr>
          <p:cNvPr id="13" name="card"/>
          <p:cNvSpPr/>
          <p:nvPr/>
        </p:nvSpPr>
        <p:spPr>
          <a:xfrm>
            <a:off x="6720840" y="4334256"/>
            <a:ext cx="4892040" cy="1298448"/>
          </a:xfrm>
          <a:prstGeom prst="roundRect">
            <a:avLst>
              <a:gd name="adj" fmla="val 5634"/>
            </a:avLst>
          </a:prstGeom>
          <a:solidFill>
            <a:schemeClr val="bg2"/>
          </a:solidFill>
          <a:ln/>
        </p:spPr>
      </p:sp>
      <p:sp>
        <p:nvSpPr>
          <p:cNvPr id="14" name="Text 11"/>
          <p:cNvSpPr txBox="1"/>
          <p:nvPr/>
        </p:nvSpPr>
        <p:spPr>
          <a:xfrm>
            <a:off x="6949440" y="4443984"/>
            <a:ext cx="2103120" cy="105156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+0.29 pts</a:t>
            </a:r>
            <a:endParaRPr lang="en-US" sz="3600" dirty="0"/>
          </a:p>
        </p:txBody>
      </p:sp>
      <p:sp>
        <p:nvSpPr>
          <p:cNvPr id="15" name="Text 12"/>
          <p:cNvSpPr txBox="1"/>
          <p:nvPr/>
        </p:nvSpPr>
        <p:spPr>
          <a:xfrm>
            <a:off x="9098280" y="4517136"/>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Module A active return</a:t>
            </a:r>
            <a:endParaRPr lang="en-US" sz="1500" dirty="0"/>
          </a:p>
        </p:txBody>
      </p:sp>
      <p:sp>
        <p:nvSpPr>
          <p:cNvPr id="16" name="Text 13"/>
          <p:cNvSpPr txBox="1"/>
          <p:nvPr/>
        </p:nvSpPr>
        <p:spPr>
          <a:xfrm>
            <a:off x="9098280" y="4974336"/>
            <a:ext cx="2377440" cy="548640"/>
          </a:xfrm>
          <a:prstGeom prst="rect">
            <a:avLst/>
          </a:prstGeom>
          <a:noFill/>
          <a:ln/>
        </p:spPr>
        <p:txBody>
          <a:bodyPr wrap="square" lIns="0" tIns="0" rIns="0" bIns="0" rtlCol="0" anchor="t"/>
          <a:lstStyle/>
          <a:p>
            <a:pPr indent="0" marL="0">
              <a:buNone/>
            </a:pPr>
            <a:r>
              <a:rPr lang="en-US" sz="1200" dirty="0">
                <a:solidFill>
                  <a:schemeClr val="accent5"/>
                </a:solidFill>
              </a:rPr>
              <a:t>vs −0.37 pts naive (no decay/smoothing); synthetic prices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Minutes after a headline breaks, the bank knows its capital at risk</a:t>
            </a:r>
            <a:endParaRPr lang="en-US" sz="3400" dirty="0"/>
          </a:p>
        </p:txBody>
      </p:sp>
      <p:graphicFrame>
        <p:nvGraphicFramePr>
          <p:cNvPr id="3" name="Chart 0" descr=""/>
          <p:cNvGraphicFramePr/>
          <p:nvPr/>
        </p:nvGraphicFramePr>
        <p:xfrm>
          <a:off x="548640" y="132588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15000"/>
            <a:ext cx="6766560" cy="457200"/>
          </a:xfrm>
          <a:prstGeom prst="rect">
            <a:avLst/>
          </a:prstGeom>
          <a:noFill/>
          <a:ln/>
        </p:spPr>
        <p:txBody>
          <a:bodyPr wrap="square" lIns="0" tIns="0" rIns="0" bIns="0" rtlCol="0" anchor="t"/>
          <a:lstStyle/>
          <a:p>
            <a:pPr indent="0" marL="0">
              <a:buNone/>
            </a:pPr>
            <a:r>
              <a:rPr lang="en-US" sz="1100" dirty="0">
                <a:solidFill>
                  <a:schemeClr val="accent5"/>
                </a:solidFill>
              </a:rPr>
              <a:t>Red = below the 7.0% threshold (4.5% minimum + 2.5% buffer). Synthetic USD 5.9bn book, illustrative capital.</a:t>
            </a:r>
            <a:endParaRPr lang="en-US" sz="1100" dirty="0"/>
          </a:p>
        </p:txBody>
      </p:sp>
      <p:sp>
        <p:nvSpPr>
          <p:cNvPr id="5" name="icon circle"/>
          <p:cNvSpPr/>
          <p:nvPr/>
        </p:nvSpPr>
        <p:spPr>
          <a:xfrm>
            <a:off x="7680960" y="1371600"/>
            <a:ext cx="658368" cy="658368"/>
          </a:xfrm>
          <a:prstGeom prst="ellipse">
            <a:avLst/>
          </a:prstGeom>
          <a:solidFill>
            <a:schemeClr val="tx2"/>
          </a:solidFill>
          <a:ln/>
        </p:spPr>
      </p:sp>
      <p:pic>
        <p:nvPicPr>
          <p:cNvPr id="6" name="icon" descr="preencoded.png">    </p:cNvPr>
          <p:cNvPicPr>
            <a:picLocks noChangeAspect="1"/>
          </p:cNvPicPr>
          <p:nvPr/>
        </p:nvPicPr>
        <p:blipFill>
          <a:blip r:embed="rId2"/>
          <a:stretch>
            <a:fillRect/>
          </a:stretch>
        </p:blipFill>
        <p:spPr>
          <a:xfrm>
            <a:off x="7858719" y="1549359"/>
            <a:ext cx="302849" cy="302849"/>
          </a:xfrm>
          <a:prstGeom prst="rect">
            <a:avLst/>
          </a:prstGeom>
        </p:spPr>
      </p:pic>
      <p:sp>
        <p:nvSpPr>
          <p:cNvPr id="7" name="Text 3"/>
          <p:cNvSpPr txBox="1"/>
          <p:nvPr/>
        </p:nvSpPr>
        <p:spPr>
          <a:xfrm>
            <a:off x="8503920" y="1353312"/>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Risk manager</a:t>
            </a:r>
            <a:endParaRPr lang="en-US" sz="1600" dirty="0"/>
          </a:p>
        </p:txBody>
      </p:sp>
      <p:sp>
        <p:nvSpPr>
          <p:cNvPr id="8" name="Text 4"/>
          <p:cNvSpPr txBox="1"/>
          <p:nvPr/>
        </p:nvSpPr>
        <p:spPr>
          <a:xfrm>
            <a:off x="8503920" y="1719072"/>
            <a:ext cx="3108960" cy="1143000"/>
          </a:xfrm>
          <a:prstGeom prst="rect">
            <a:avLst/>
          </a:prstGeom>
          <a:noFill/>
          <a:ln/>
        </p:spPr>
        <p:txBody>
          <a:bodyPr wrap="square" lIns="0" tIns="0" rIns="0" bIns="0" rtlCol="0" anchor="t"/>
          <a:lstStyle/>
          <a:p>
            <a:pPr indent="0" marL="0">
              <a:buNone/>
            </a:pPr>
            <a:r>
              <a:rPr lang="en-US" sz="1300" dirty="0">
                <a:solidFill>
                  <a:schemeClr val="tx1"/>
                </a:solidFill>
              </a:rPr>
              <a:t>An early-warning stress test fires automatically, with P&amp;L down to the position. It surfaced a ~5% single-name concentration and unhedged duration.</a:t>
            </a:r>
            <a:endParaRPr lang="en-US" sz="1300" dirty="0"/>
          </a:p>
        </p:txBody>
      </p:sp>
      <p:sp>
        <p:nvSpPr>
          <p:cNvPr id="9" name="icon circle"/>
          <p:cNvSpPr/>
          <p:nvPr/>
        </p:nvSpPr>
        <p:spPr>
          <a:xfrm>
            <a:off x="7680960" y="2971800"/>
            <a:ext cx="658368" cy="658368"/>
          </a:xfrm>
          <a:prstGeom prst="ellipse">
            <a:avLst/>
          </a:prstGeom>
          <a:solidFill>
            <a:schemeClr val="tx2"/>
          </a:solidFill>
          <a:ln/>
        </p:spPr>
      </p:sp>
      <p:pic>
        <p:nvPicPr>
          <p:cNvPr id="10" name="icon" descr="preencoded.png">    </p:cNvPr>
          <p:cNvPicPr>
            <a:picLocks noChangeAspect="1"/>
          </p:cNvPicPr>
          <p:nvPr/>
        </p:nvPicPr>
        <p:blipFill>
          <a:blip r:embed="rId3"/>
          <a:stretch>
            <a:fillRect/>
          </a:stretch>
        </p:blipFill>
        <p:spPr>
          <a:xfrm>
            <a:off x="7858719" y="3149559"/>
            <a:ext cx="302849" cy="302849"/>
          </a:xfrm>
          <a:prstGeom prst="rect">
            <a:avLst/>
          </a:prstGeom>
        </p:spPr>
      </p:pic>
      <p:sp>
        <p:nvSpPr>
          <p:cNvPr id="11" name="Text 6"/>
          <p:cNvSpPr txBox="1"/>
          <p:nvPr/>
        </p:nvSpPr>
        <p:spPr>
          <a:xfrm>
            <a:off x="8503920" y="2953512"/>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Portfolio manager</a:t>
            </a:r>
            <a:endParaRPr lang="en-US" sz="1600" dirty="0"/>
          </a:p>
        </p:txBody>
      </p:sp>
      <p:sp>
        <p:nvSpPr>
          <p:cNvPr id="12" name="Text 7"/>
          <p:cNvSpPr txBox="1"/>
          <p:nvPr/>
        </p:nvSpPr>
        <p:spPr>
          <a:xfrm>
            <a:off x="8503920" y="3319272"/>
            <a:ext cx="3108960" cy="1143000"/>
          </a:xfrm>
          <a:prstGeom prst="rect">
            <a:avLst/>
          </a:prstGeom>
          <a:noFill/>
          <a:ln/>
        </p:spPr>
        <p:txBody>
          <a:bodyPr wrap="square" lIns="0" tIns="0" rIns="0" bIns="0" rtlCol="0" anchor="t"/>
          <a:lstStyle/>
          <a:p>
            <a:pPr indent="0" marL="0">
              <a:buNone/>
            </a:pPr>
            <a:r>
              <a:rPr lang="en-US" sz="1300" dirty="0">
                <a:solidFill>
                  <a:schemeClr val="tx1"/>
                </a:solidFill>
              </a:rPr>
              <a:t>A systematic, bounded tilt with controlled turnover. It cut JPM from 7.0% to 4.4% at the close on the day of the default headline.</a:t>
            </a:r>
            <a:endParaRPr lang="en-US" sz="1300" dirty="0"/>
          </a:p>
        </p:txBody>
      </p:sp>
      <p:sp>
        <p:nvSpPr>
          <p:cNvPr id="13" name="icon circle"/>
          <p:cNvSpPr/>
          <p:nvPr/>
        </p:nvSpPr>
        <p:spPr>
          <a:xfrm>
            <a:off x="7680960" y="4572000"/>
            <a:ext cx="658368" cy="658368"/>
          </a:xfrm>
          <a:prstGeom prst="ellipse">
            <a:avLst/>
          </a:prstGeom>
          <a:solidFill>
            <a:schemeClr val="tx2"/>
          </a:solidFill>
          <a:ln/>
        </p:spPr>
      </p:sp>
      <p:pic>
        <p:nvPicPr>
          <p:cNvPr id="14" name="icon" descr="preencoded.png">    </p:cNvPr>
          <p:cNvPicPr>
            <a:picLocks noChangeAspect="1"/>
          </p:cNvPicPr>
          <p:nvPr/>
        </p:nvPicPr>
        <p:blipFill>
          <a:blip r:embed="rId4"/>
          <a:stretch>
            <a:fillRect/>
          </a:stretch>
        </p:blipFill>
        <p:spPr>
          <a:xfrm>
            <a:off x="7858719" y="4749759"/>
            <a:ext cx="302849" cy="302849"/>
          </a:xfrm>
          <a:prstGeom prst="rect">
            <a:avLst/>
          </a:prstGeom>
        </p:spPr>
      </p:pic>
      <p:sp>
        <p:nvSpPr>
          <p:cNvPr id="15" name="Text 9"/>
          <p:cNvSpPr txBox="1"/>
          <p:nvPr/>
        </p:nvSpPr>
        <p:spPr>
          <a:xfrm>
            <a:off x="8503920" y="4553712"/>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Model governance</a:t>
            </a:r>
            <a:endParaRPr lang="en-US" sz="1600" dirty="0"/>
          </a:p>
        </p:txBody>
      </p:sp>
      <p:sp>
        <p:nvSpPr>
          <p:cNvPr id="16" name="Text 10"/>
          <p:cNvSpPr txBox="1"/>
          <p:nvPr/>
        </p:nvSpPr>
        <p:spPr>
          <a:xfrm>
            <a:off x="8503920" y="4919472"/>
            <a:ext cx="3108960" cy="1143000"/>
          </a:xfrm>
          <a:prstGeom prst="rect">
            <a:avLst/>
          </a:prstGeom>
          <a:noFill/>
          <a:ln/>
        </p:spPr>
        <p:txBody>
          <a:bodyPr wrap="square" lIns="0" tIns="0" rIns="0" bIns="0" rtlCol="0" anchor="t"/>
          <a:lstStyle/>
          <a:p>
            <a:pPr indent="0" marL="0">
              <a:buNone/>
            </a:pPr>
            <a:r>
              <a:rPr lang="en-US" sz="1300" dirty="0">
                <a:solidFill>
                  <a:schemeClr val="tx1"/>
                </a:solidFill>
              </a:rPr>
              <a:t>Every score has a decomposition and its keyword evidence, so the model can be challenged and audited.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Limitations and next steps</a:t>
            </a:r>
            <a:endParaRPr lang="en-US" sz="3400" dirty="0"/>
          </a:p>
        </p:txBody>
      </p:sp>
      <p:sp>
        <p:nvSpPr>
          <p:cNvPr id="3" name="card"/>
          <p:cNvSpPr/>
          <p:nvPr/>
        </p:nvSpPr>
        <p:spPr>
          <a:xfrm>
            <a:off x="548640" y="1371600"/>
            <a:ext cx="5394960" cy="3931920"/>
          </a:xfrm>
          <a:prstGeom prst="roundRect">
            <a:avLst>
              <a:gd name="adj" fmla="val 1860"/>
            </a:avLst>
          </a:prstGeom>
          <a:solidFill>
            <a:schemeClr val="tx2"/>
          </a:solidFill>
          <a:ln/>
        </p:spPr>
      </p:sp>
      <p:pic>
        <p:nvPicPr>
          <p:cNvPr id="4" name="icon" descr="preencoded.png">    </p:cNvPr>
          <p:cNvPicPr>
            <a:picLocks noChangeAspect="1"/>
          </p:cNvPicPr>
          <p:nvPr/>
        </p:nvPicPr>
        <p:blipFill>
          <a:blip r:embed="rId1"/>
          <a:stretch>
            <a:fillRect/>
          </a:stretch>
        </p:blipFill>
        <p:spPr>
          <a:xfrm>
            <a:off x="868680" y="1645920"/>
            <a:ext cx="411480" cy="411480"/>
          </a:xfrm>
          <a:prstGeom prst="rect">
            <a:avLst/>
          </a:prstGeom>
        </p:spPr>
      </p:pic>
      <p:sp>
        <p:nvSpPr>
          <p:cNvPr id="5" name="Text 2"/>
          <p:cNvSpPr txBox="1"/>
          <p:nvPr/>
        </p:nvSpPr>
        <p:spPr>
          <a:xfrm>
            <a:off x="1417320" y="1600200"/>
            <a:ext cx="4206240" cy="502920"/>
          </a:xfrm>
          <a:prstGeom prst="rect">
            <a:avLst/>
          </a:prstGeom>
          <a:noFill/>
          <a:ln/>
        </p:spPr>
        <p:txBody>
          <a:bodyPr wrap="square" lIns="0" tIns="0" rIns="0" bIns="0" rtlCol="0" anchor="ctr"/>
          <a:lstStyle/>
          <a:p>
            <a:pPr indent="0" marL="0">
              <a:buNone/>
            </a:pPr>
            <a:r>
              <a:rPr lang="en-US" sz="2000" b="1" dirty="0">
                <a:solidFill>
                  <a:schemeClr val="bg1"/>
                </a:solidFill>
              </a:rPr>
              <a:t>Assumptions &amp; gaps</a:t>
            </a:r>
            <a:endParaRPr lang="en-US" sz="2000" dirty="0"/>
          </a:p>
        </p:txBody>
      </p:sp>
      <p:sp>
        <p:nvSpPr>
          <p:cNvPr id="6" name="Text 3"/>
          <p:cNvSpPr/>
          <p:nvPr/>
        </p:nvSpPr>
        <p:spPr>
          <a:xfrm>
            <a:off x="868680" y="2331720"/>
            <a:ext cx="4800600" cy="28346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2"/>
                </a:solidFill>
              </a:rPr>
              <a:t>Demo stream, prices and banking book are synthetic; Module A returns have an edge by construction</a:t>
            </a:r>
            <a:endParaRPr lang="en-US" sz="1500" dirty="0"/>
          </a:p>
          <a:p>
            <a:pPr marL="342900" indent="-342900">
              <a:spcAft>
                <a:spcPts val="1200"/>
              </a:spcAft>
              <a:buSzPct val="100000"/>
              <a:buChar char="•"/>
            </a:pPr>
            <a:r>
              <a:rPr lang="en-US" sz="1500" dirty="0">
                <a:solidFill>
                  <a:schemeClr val="bg2"/>
                </a:solidFill>
              </a:rPr>
              <a:t>Offline NLP generalises modestly (58% / 60% held-out); eval sets are small and author-labelled</a:t>
            </a:r>
            <a:endParaRPr lang="en-US" sz="1500" dirty="0"/>
          </a:p>
          <a:p>
            <a:pPr marL="342900" indent="-342900">
              <a:spcAft>
                <a:spcPts val="1200"/>
              </a:spcAft>
              <a:buSzPct val="100000"/>
              <a:buChar char="•"/>
            </a:pPr>
            <a:r>
              <a:rPr lang="en-US" sz="1500" dirty="0">
                <a:solidFill>
                  <a:schemeClr val="bg2"/>
                </a:solidFill>
              </a:rPr>
              <a:t>Stress model is first-order: no full revaluation, no correlations, linear impact scaling</a:t>
            </a:r>
            <a:endParaRPr lang="en-US" sz="1500" dirty="0"/>
          </a:p>
          <a:p>
            <a:pPr marL="342900" indent="-342900">
              <a:spcAft>
                <a:spcPts val="1200"/>
              </a:spcAft>
              <a:buSzPct val="100000"/>
              <a:buChar char="•"/>
            </a:pPr>
            <a:r>
              <a:rPr lang="en-US" sz="1500" dirty="0">
                <a:solidFill>
                  <a:schemeClr val="bg2"/>
                </a:solidFill>
              </a:rPr>
              <a:t>Market-wide news does not yet propagate to sector weights in Module A</a:t>
            </a:r>
            <a:endParaRPr lang="en-US" sz="1500" dirty="0"/>
          </a:p>
        </p:txBody>
      </p:sp>
      <p:sp>
        <p:nvSpPr>
          <p:cNvPr id="7" name="card"/>
          <p:cNvSpPr/>
          <p:nvPr/>
        </p:nvSpPr>
        <p:spPr>
          <a:xfrm>
            <a:off x="6263640" y="1371600"/>
            <a:ext cx="5394960" cy="3931920"/>
          </a:xfrm>
          <a:prstGeom prst="roundRect">
            <a:avLst>
              <a:gd name="adj" fmla="val 1860"/>
            </a:avLst>
          </a:prstGeom>
          <a:solidFill>
            <a:schemeClr val="tx2"/>
          </a:solidFill>
          <a:ln/>
        </p:spPr>
      </p:sp>
      <p:pic>
        <p:nvPicPr>
          <p:cNvPr id="8" name="icon" descr="preencoded.png">    </p:cNvPr>
          <p:cNvPicPr>
            <a:picLocks noChangeAspect="1"/>
          </p:cNvPicPr>
          <p:nvPr/>
        </p:nvPicPr>
        <p:blipFill>
          <a:blip r:embed="rId2"/>
          <a:stretch>
            <a:fillRect/>
          </a:stretch>
        </p:blipFill>
        <p:spPr>
          <a:xfrm>
            <a:off x="6583680" y="1645920"/>
            <a:ext cx="411480" cy="411480"/>
          </a:xfrm>
          <a:prstGeom prst="rect">
            <a:avLst/>
          </a:prstGeom>
        </p:spPr>
      </p:pic>
      <p:sp>
        <p:nvSpPr>
          <p:cNvPr id="9" name="Text 5"/>
          <p:cNvSpPr txBox="1"/>
          <p:nvPr/>
        </p:nvSpPr>
        <p:spPr>
          <a:xfrm>
            <a:off x="7132320" y="1600200"/>
            <a:ext cx="4206240" cy="502920"/>
          </a:xfrm>
          <a:prstGeom prst="rect">
            <a:avLst/>
          </a:prstGeom>
          <a:noFill/>
          <a:ln/>
        </p:spPr>
        <p:txBody>
          <a:bodyPr wrap="square" lIns="0" tIns="0" rIns="0" bIns="0" rtlCol="0" anchor="ctr"/>
          <a:lstStyle/>
          <a:p>
            <a:pPr indent="0" marL="0">
              <a:buNone/>
            </a:pPr>
            <a:r>
              <a:rPr lang="en-US" sz="2000" b="1" dirty="0">
                <a:solidFill>
                  <a:schemeClr val="bg1"/>
                </a:solidFill>
              </a:rPr>
              <a:t>Next steps</a:t>
            </a:r>
            <a:endParaRPr lang="en-US" sz="2000" dirty="0"/>
          </a:p>
        </p:txBody>
      </p:sp>
      <p:sp>
        <p:nvSpPr>
          <p:cNvPr id="10" name="Text 6"/>
          <p:cNvSpPr/>
          <p:nvPr/>
        </p:nvSpPr>
        <p:spPr>
          <a:xfrm>
            <a:off x="6583680" y="2331720"/>
            <a:ext cx="4800600" cy="28346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bg2"/>
                </a:solidFill>
              </a:rPr>
              <a:t>Fine-tune FinBERT on Financial PhraseBank + labelled social data; benchmark with the evaluate command</a:t>
            </a:r>
            <a:endParaRPr lang="en-US" sz="1500" dirty="0"/>
          </a:p>
          <a:p>
            <a:pPr marL="342900" indent="-342900">
              <a:spcAft>
                <a:spcPts val="1200"/>
              </a:spcAft>
              <a:buSzPct val="100000"/>
              <a:buChar char="•"/>
            </a:pPr>
            <a:r>
              <a:rPr lang="en-US" sz="1500" dirty="0">
                <a:solidFill>
                  <a:schemeClr val="bg2"/>
                </a:solidFill>
              </a:rPr>
              <a:t>Deduplicate stories across outlets with sentence embeddings to sharpen burst detection</a:t>
            </a:r>
            <a:endParaRPr lang="en-US" sz="1500" dirty="0"/>
          </a:p>
          <a:p>
            <a:pPr marL="342900" indent="-342900">
              <a:spcAft>
                <a:spcPts val="1200"/>
              </a:spcAft>
              <a:buSzPct val="100000"/>
              <a:buChar char="•"/>
            </a:pPr>
            <a:r>
              <a:rPr lang="en-US" sz="1500" dirty="0">
                <a:solidFill>
                  <a:schemeClr val="bg2"/>
                </a:solidFill>
              </a:rPr>
              <a:t>Backtest Module A on months of live GDELT/NewsAPI signals with real yfinance prices</a:t>
            </a:r>
            <a:endParaRPr lang="en-US" sz="1500" dirty="0"/>
          </a:p>
          <a:p>
            <a:pPr marL="342900" indent="-342900">
              <a:spcAft>
                <a:spcPts val="1200"/>
              </a:spcAft>
              <a:buSzPct val="100000"/>
              <a:buChar char="•"/>
            </a:pPr>
            <a:r>
              <a:rPr lang="en-US" sz="1500" dirty="0">
                <a:solidFill>
                  <a:schemeClr val="bg2"/>
                </a:solidFill>
              </a:rPr>
              <a:t>Full revaluation, correlated shocks and Kafka streaming for production scale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entinel Signal">
  <a:themeElements>
    <a:clrScheme name="Sentinel Signal">
      <a:dk1>
        <a:srgbClr val="111A2E"/>
      </a:dk1>
      <a:lt1>
        <a:srgbClr val="FFFFFF"/>
      </a:lt1>
      <a:dk2>
        <a:srgbClr val="1F3A5F"/>
      </a:dk2>
      <a:lt2>
        <a:srgbClr val="EEF2F7"/>
      </a:lt2>
      <a:accent1>
        <a:srgbClr val="E8A33D"/>
      </a:accent1>
      <a:accent2>
        <a:srgbClr val="2A78D6"/>
      </a:accent2>
      <a:accent3>
        <a:srgbClr val="D03B3B"/>
      </a:accent3>
      <a:accent4>
        <a:srgbClr val="1BAF7A"/>
      </a:accent4>
      <a:accent5>
        <a:srgbClr val="6B7280"/>
      </a:accent5>
      <a:accent6>
        <a:srgbClr val="8FA3BF"/>
      </a:accent6>
      <a:hlink>
        <a:srgbClr val="2A78D6"/>
      </a:hlink>
      <a:folHlink>
        <a:srgbClr val="6250D6"/>
      </a:folHlink>
    </a:clrScheme>
    <a:fontScheme name="Sentinel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AI/NLP Risk Engine</dc:title>
  <dc:subject>PptxGenJS Presentation</dc:subject>
  <dc:creator>Sreedaya G S</dc:creator>
  <cp:lastModifiedBy>Sreedaya G S</cp:lastModifiedBy>
  <cp:revision>1</cp:revision>
  <dcterms:created xsi:type="dcterms:W3CDTF">2026-10-11T06:24:48Z</dcterms:created>
  <dcterms:modified xsi:type="dcterms:W3CDTF">2026-10-11T06:24:48Z</dcterms:modified>
</cp:coreProperties>
</file>